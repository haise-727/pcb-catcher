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B3C926-0434-490E-A9A5-C0B11C8FDE9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423E27-975D-419A-8B27-9E67114C6BF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FB24EF-97E1-4F61-8DF1-5DB37986816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D25915E-F4D1-4AB5-967E-D8E2D2634CB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5B0F6E-E805-4F52-8383-4C9919CEA8C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AC19B0-162C-493F-8775-F15087206C0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67E04A4-3D00-4406-912F-235FE63180F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AB9132-A048-4FDE-9C9E-FE262D902B4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9F3912-D518-4C11-8BB1-EC8F566ACA55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E56061-AA15-4B33-9022-420641E5B9E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415A2E-6474-44C1-9D6A-B16CD7D1058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F54B81-223F-4CEB-BBB5-BF8BB0614468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EBA372-4A9B-4942-9FDF-9080595B009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1273E3-BD6B-478B-9319-737C6F3C031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6A9BE2-5CAE-408B-87CD-A1D9DF2A6E48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A3343D-AAFD-4151-B30A-8CC9ADD9C6E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45BBAE-C7A2-4901-92F3-B551AD3511B0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DFE834-24C0-4487-8B3A-D38C65CB554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67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8240" cy="5154480"/>
          </a:xfrm>
          <a:custGeom>
            <a:avLst/>
            <a:gdLst>
              <a:gd name="textAreaLeft" fmla="*/ 0 w 4638240"/>
              <a:gd name="textAreaRight" fmla="*/ 4638600 w 4638240"/>
              <a:gd name="textAreaTop" fmla="*/ 0 h 5154480"/>
              <a:gd name="textAreaBottom" fmla="*/ 5154840 h 515448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ＭＳ Ｐゴシック"/>
            </a:endParaRPr>
          </a:p>
        </p:txBody>
      </p:sp>
      <p:pic>
        <p:nvPicPr>
          <p:cNvPr id="68" name="Picture 4" descr=""/>
          <p:cNvPicPr/>
          <p:nvPr/>
        </p:nvPicPr>
        <p:blipFill>
          <a:blip r:embed="rId1"/>
          <a:srcRect l="0" t="0" r="59916" b="0"/>
          <a:stretch/>
        </p:blipFill>
        <p:spPr>
          <a:xfrm>
            <a:off x="7100640" y="2120760"/>
            <a:ext cx="2731320" cy="29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384120" y="1974960"/>
            <a:ext cx="5760360" cy="383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defTabSz="4572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ＭＳ Ｐゴシック"/>
              </a:rPr>
              <a:t>The design file already knows what should be on the board.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782640" y="452880"/>
            <a:ext cx="10945800" cy="1382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VITISH 2026</a:t>
            </a:r>
            <a:br>
              <a:rPr sz="3600"/>
            </a:br>
            <a:r>
              <a:rPr b="1" lang="en-US" sz="3600" strike="noStrike" u="non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(SIH Internal Hackathon)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384120" y="2468880"/>
            <a:ext cx="57603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95000"/>
              </a:lnSpc>
              <a:spcAft>
                <a:spcPts val="7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Problem Statement ID:  </a:t>
            </a: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VITISH-82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7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Problem Statement Title:  </a:t>
            </a: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Low-cost Optical Inspection for PCB Assembly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7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Theme:  </a:t>
            </a: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Smart Automation / Manufacturing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7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PS Category:  </a:t>
            </a: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Hardware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7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Idea Title:  </a:t>
            </a: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GerberEye — CAD-Referenced Optical Inspection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7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Team Name:  </a:t>
            </a: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&lt;team name&gt;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7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Team ID:  </a:t>
            </a: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&lt;team id&gt;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11" descr="A logo with a person in a blue yellow and red circle&#10;&#10;Description automatically generated"/>
          <p:cNvPicPr/>
          <p:nvPr/>
        </p:nvPicPr>
        <p:blipFill>
          <a:blip r:embed="rId2"/>
          <a:stretch/>
        </p:blipFill>
        <p:spPr>
          <a:xfrm>
            <a:off x="10480320" y="191520"/>
            <a:ext cx="1391040" cy="74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12" descr=""/>
          <p:cNvPicPr/>
          <p:nvPr/>
        </p:nvPicPr>
        <p:blipFill>
          <a:blip r:embed="rId3"/>
          <a:stretch/>
        </p:blipFill>
        <p:spPr>
          <a:xfrm>
            <a:off x="8849520" y="171360"/>
            <a:ext cx="139104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1" descr=""/>
          <p:cNvPicPr/>
          <p:nvPr/>
        </p:nvPicPr>
        <p:blipFill>
          <a:blip r:embed="rId4"/>
          <a:stretch/>
        </p:blipFill>
        <p:spPr>
          <a:xfrm>
            <a:off x="2300400" y="205560"/>
            <a:ext cx="1475640" cy="7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2" descr=""/>
          <p:cNvPicPr/>
          <p:nvPr/>
        </p:nvPicPr>
        <p:blipFill>
          <a:blip r:embed="rId5"/>
          <a:stretch/>
        </p:blipFill>
        <p:spPr>
          <a:xfrm>
            <a:off x="234000" y="205560"/>
            <a:ext cx="1902960" cy="7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ounded Rectangle 37"/>
          <p:cNvSpPr/>
          <p:nvPr/>
        </p:nvSpPr>
        <p:spPr>
          <a:xfrm>
            <a:off x="384120" y="4956120"/>
            <a:ext cx="181008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92000"/>
              </a:lnSpc>
            </a:pPr>
            <a:r>
              <a:rPr b="1" lang="en-US" sz="1900" strike="noStrike" u="none">
                <a:solidFill>
                  <a:srgbClr val="2e7d32"/>
                </a:solidFill>
                <a:effectLst/>
                <a:uFillTx/>
                <a:latin typeface="Calibri"/>
                <a:ea typeface="ＭＳ Ｐゴシック"/>
              </a:rPr>
              <a:t>154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unit tests passing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38"/>
          <p:cNvSpPr/>
          <p:nvPr/>
        </p:nvSpPr>
        <p:spPr>
          <a:xfrm>
            <a:off x="2359080" y="4956120"/>
            <a:ext cx="181008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92000"/>
              </a:lnSpc>
            </a:pPr>
            <a:r>
              <a:rPr b="1" lang="en-US" sz="1900" strike="noStrike" u="none">
                <a:solidFill>
                  <a:srgbClr val="0070c0"/>
                </a:solidFill>
                <a:effectLst/>
                <a:uFillTx/>
                <a:latin typeface="Calibri"/>
                <a:ea typeface="ＭＳ Ｐゴシック"/>
              </a:rPr>
              <a:t>29/29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integration checks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39"/>
          <p:cNvSpPr/>
          <p:nvPr/>
        </p:nvSpPr>
        <p:spPr>
          <a:xfrm>
            <a:off x="4334400" y="4956120"/>
            <a:ext cx="181008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1f38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92000"/>
              </a:lnSpc>
            </a:pPr>
            <a:r>
              <a:rPr b="1" lang="en-US" sz="19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0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network calls made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40"/>
          <p:cNvSpPr/>
          <p:nvPr/>
        </p:nvSpPr>
        <p:spPr>
          <a:xfrm>
            <a:off x="384120" y="5742360"/>
            <a:ext cx="5760360" cy="65808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54720" bIns="54720" anchor="ctr">
            <a:noAutofit/>
          </a:bodyPr>
          <a:p>
            <a:pPr defTabSz="457200">
              <a:lnSpc>
                <a:spcPct val="95000"/>
              </a:lnSpc>
            </a:pPr>
            <a:r>
              <a:rPr b="0" lang="en-US" sz="12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Commercial AOI: </a:t>
            </a:r>
            <a:r>
              <a:rPr b="1" lang="en-US" sz="12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₹15–50 lakh</a:t>
            </a:r>
            <a:r>
              <a:rPr b="0" lang="en-US" sz="12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.   This: </a:t>
            </a:r>
            <a:r>
              <a:rPr b="1" lang="en-US" sz="12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under ₹10,000</a:t>
            </a:r>
            <a:r>
              <a:rPr b="0" lang="en-US" sz="12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, on the laptop the shop already owns.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8"/>
          <p:cNvSpPr/>
          <p:nvPr/>
        </p:nvSpPr>
        <p:spPr>
          <a:xfrm>
            <a:off x="0" y="6492960"/>
            <a:ext cx="12191760" cy="3646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84120" y="969120"/>
            <a:ext cx="11420640" cy="51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500" strike="noStrike" u="none">
                <a:solidFill>
                  <a:srgbClr val="1f3864"/>
                </a:solidFill>
                <a:effectLst/>
                <a:uFillTx/>
                <a:latin typeface="Times New Roman"/>
                <a:ea typeface="ＭＳ Ｐゴシック"/>
              </a:rPr>
              <a:t>IDEA TITLE — GerberEye: CAD-Referenced PCB Inspection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37"/>
          </p:nvPr>
        </p:nvSpPr>
        <p:spPr>
          <a:xfrm>
            <a:off x="9121320" y="64886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42B392-AF9B-4C1A-8124-0B7588B6E9E8}" type="slidenum">
              <a: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3" name="Picture 1" descr="A logo with a person in a blue yellow and red circle&#10;&#10;Description automatically generated"/>
          <p:cNvPicPr/>
          <p:nvPr/>
        </p:nvPicPr>
        <p:blipFill>
          <a:blip r:embed="rId1"/>
          <a:stretch/>
        </p:blipFill>
        <p:spPr>
          <a:xfrm>
            <a:off x="10480320" y="191520"/>
            <a:ext cx="1391040" cy="74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2" descr=""/>
          <p:cNvPicPr/>
          <p:nvPr/>
        </p:nvPicPr>
        <p:blipFill>
          <a:blip r:embed="rId2"/>
          <a:stretch/>
        </p:blipFill>
        <p:spPr>
          <a:xfrm>
            <a:off x="8849520" y="171360"/>
            <a:ext cx="139104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9" descr=""/>
          <p:cNvPicPr/>
          <p:nvPr/>
        </p:nvPicPr>
        <p:blipFill>
          <a:blip r:embed="rId3"/>
          <a:stretch/>
        </p:blipFill>
        <p:spPr>
          <a:xfrm>
            <a:off x="2300400" y="205560"/>
            <a:ext cx="1475640" cy="7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Picture 12" descr=""/>
          <p:cNvPicPr/>
          <p:nvPr/>
        </p:nvPicPr>
        <p:blipFill>
          <a:blip r:embed="rId4"/>
          <a:stretch/>
        </p:blipFill>
        <p:spPr>
          <a:xfrm>
            <a:off x="234000" y="205560"/>
            <a:ext cx="1902960" cy="7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Rectangle 15361"/>
          <p:cNvSpPr/>
          <p:nvPr/>
        </p:nvSpPr>
        <p:spPr>
          <a:xfrm>
            <a:off x="384120" y="1517760"/>
            <a:ext cx="11420640" cy="3168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88" name="Rounded Rectangle 15362"/>
          <p:cNvSpPr/>
          <p:nvPr/>
        </p:nvSpPr>
        <p:spPr>
          <a:xfrm>
            <a:off x="384120" y="166428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THE PROBLEM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5363"/>
          <p:cNvSpPr/>
          <p:nvPr/>
        </p:nvSpPr>
        <p:spPr>
          <a:xfrm>
            <a:off x="384120" y="2011680"/>
            <a:ext cx="55774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An MSME inspects assembled PCBs </a:t>
            </a:r>
            <a:r>
              <a:rPr b="1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by eye</a:t>
            </a: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, under a magnifier lamp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~</a:t>
            </a:r>
            <a:r>
              <a:rPr b="1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200 reference designators</a:t>
            </a: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cross-checked against a printed drawing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Accuracy falls with </a:t>
            </a:r>
            <a:r>
              <a:rPr b="1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fatigue and board density</a:t>
            </a: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; nothing is recorded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Automating it costs </a:t>
            </a:r>
            <a:r>
              <a:rPr b="1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₹15–50 lakh</a:t>
            </a: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— more than the shop earns in a year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5364"/>
          <p:cNvSpPr/>
          <p:nvPr/>
        </p:nvSpPr>
        <p:spPr>
          <a:xfrm>
            <a:off x="6172200" y="166428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THE INSIGHT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5365"/>
          <p:cNvSpPr/>
          <p:nvPr/>
        </p:nvSpPr>
        <p:spPr>
          <a:xfrm>
            <a:off x="6172200" y="2011680"/>
            <a:ext cx="55774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The shop </a:t>
            </a:r>
            <a:r>
              <a:rPr b="1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already owns the design files</a:t>
            </a: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— it cannot manufacture without them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The </a:t>
            </a:r>
            <a:r>
              <a:rPr b="1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pick-and-place file</a:t>
            </a: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states what sits at every coordinate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So: </a:t>
            </a:r>
            <a:r>
              <a:rPr b="1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the design file is the label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</a:t>
            </a:r>
            <a:r>
              <a:rPr b="1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No training data. No annotation. No dataset needed.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5366"/>
          <p:cNvSpPr/>
          <p:nvPr/>
        </p:nvSpPr>
        <p:spPr>
          <a:xfrm>
            <a:off x="384120" y="3529440"/>
            <a:ext cx="11420640" cy="27396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HOW IT WORKS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entagon 15367"/>
          <p:cNvSpPr/>
          <p:nvPr/>
        </p:nvSpPr>
        <p:spPr>
          <a:xfrm>
            <a:off x="384120" y="3877200"/>
            <a:ext cx="1827000" cy="658080"/>
          </a:xfrm>
          <a:prstGeom prst="homePlate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Design files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Gerber · P&amp;P · BOM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hevron 15368"/>
          <p:cNvSpPr/>
          <p:nvPr/>
        </p:nvSpPr>
        <p:spPr>
          <a:xfrm>
            <a:off x="2302920" y="3877200"/>
            <a:ext cx="1827000" cy="65808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Register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CAD → camera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hevron 15369"/>
          <p:cNvSpPr/>
          <p:nvPr/>
        </p:nvSpPr>
        <p:spPr>
          <a:xfrm>
            <a:off x="4221360" y="3877200"/>
            <a:ext cx="1827000" cy="65808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Extract ROI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per component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hevron 15370"/>
          <p:cNvSpPr/>
          <p:nvPr/>
        </p:nvSpPr>
        <p:spPr>
          <a:xfrm>
            <a:off x="6140160" y="3877200"/>
            <a:ext cx="1827000" cy="65808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Classify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absent/rotated/offset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hevron 15371"/>
          <p:cNvSpPr/>
          <p:nvPr/>
        </p:nvSpPr>
        <p:spPr>
          <a:xfrm>
            <a:off x="8058960" y="3877200"/>
            <a:ext cx="1827000" cy="65808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Verdict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pass / fail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hevron 15372"/>
          <p:cNvSpPr/>
          <p:nvPr/>
        </p:nvSpPr>
        <p:spPr>
          <a:xfrm>
            <a:off x="9977760" y="3877200"/>
            <a:ext cx="1827000" cy="65808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Record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CSV · trends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5373"/>
          <p:cNvSpPr/>
          <p:nvPr/>
        </p:nvSpPr>
        <p:spPr>
          <a:xfrm>
            <a:off x="384120" y="4754880"/>
            <a:ext cx="11420640" cy="2739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INNOVATION &amp; UNIQUENESS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Table 15374"/>
          <p:cNvGraphicFramePr/>
          <p:nvPr/>
        </p:nvGraphicFramePr>
        <p:xfrm>
          <a:off x="384120" y="5102280"/>
          <a:ext cx="11420640" cy="1206360"/>
        </p:xfrm>
        <a:graphic>
          <a:graphicData uri="http://schemas.openxmlformats.org/drawingml/2006/table">
            <a:tbl>
              <a:tblPr/>
              <a:tblGrid>
                <a:gridCol w="1941480"/>
                <a:gridCol w="4568040"/>
                <a:gridCol w="491076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Conventional approach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GerberEye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2239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Reference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Operator memory / printed drawing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The CAD file itself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Training data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Thousands of labelled defect images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None — the P&amp;P file is the label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239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Output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"This board looks wrong"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"U1 rotated 90°, C2 missing"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Cost / connectivity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₹15–50 lakh, vendor-tied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&lt; ₹10,000, fully offline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84120" y="969120"/>
            <a:ext cx="11420640" cy="51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500" strike="noStrike" u="none">
                <a:solidFill>
                  <a:srgbClr val="1f3864"/>
                </a:solidFill>
                <a:effectLst/>
                <a:uFillTx/>
                <a:latin typeface="Times New Roman"/>
                <a:ea typeface="ＭＳ Ｐゴシック"/>
              </a:rPr>
              <a:t>TECHNICAL APPROACH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Picture 1" descr="A logo with a person in a blue yellow and red circle&#10;&#10;Description automatically generated"/>
          <p:cNvPicPr/>
          <p:nvPr/>
        </p:nvPicPr>
        <p:blipFill>
          <a:blip r:embed="rId1"/>
          <a:stretch/>
        </p:blipFill>
        <p:spPr>
          <a:xfrm>
            <a:off x="10480320" y="191520"/>
            <a:ext cx="1391040" cy="74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2" descr=""/>
          <p:cNvPicPr/>
          <p:nvPr/>
        </p:nvPicPr>
        <p:blipFill>
          <a:blip r:embed="rId2"/>
          <a:stretch/>
        </p:blipFill>
        <p:spPr>
          <a:xfrm>
            <a:off x="8849520" y="171360"/>
            <a:ext cx="139104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10" descr=""/>
          <p:cNvPicPr/>
          <p:nvPr/>
        </p:nvPicPr>
        <p:blipFill>
          <a:blip r:embed="rId3"/>
          <a:stretch/>
        </p:blipFill>
        <p:spPr>
          <a:xfrm>
            <a:off x="2300400" y="205560"/>
            <a:ext cx="1475640" cy="7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11" descr=""/>
          <p:cNvPicPr/>
          <p:nvPr/>
        </p:nvPicPr>
        <p:blipFill>
          <a:blip r:embed="rId4"/>
          <a:stretch/>
        </p:blipFill>
        <p:spPr>
          <a:xfrm>
            <a:off x="234000" y="205560"/>
            <a:ext cx="1902960" cy="7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3"/>
          <p:cNvSpPr/>
          <p:nvPr/>
        </p:nvSpPr>
        <p:spPr>
          <a:xfrm>
            <a:off x="0" y="6492960"/>
            <a:ext cx="12191760" cy="3646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38"/>
          </p:nvPr>
        </p:nvSpPr>
        <p:spPr>
          <a:xfrm>
            <a:off x="9121320" y="64886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275BEE-CE82-4B5B-8EB8-00A662FD3494}" type="slidenum">
              <a: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Rectangle 17409"/>
          <p:cNvSpPr/>
          <p:nvPr/>
        </p:nvSpPr>
        <p:spPr>
          <a:xfrm>
            <a:off x="384120" y="1517760"/>
            <a:ext cx="11420640" cy="3168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109" name="Rounded Rectangle 17410"/>
          <p:cNvSpPr/>
          <p:nvPr/>
        </p:nvSpPr>
        <p:spPr>
          <a:xfrm>
            <a:off x="384120" y="1645920"/>
            <a:ext cx="11420640" cy="27396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INSPECTION PIPELINE  —  CPU only, no GPU, ~100 ms per board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Pentagon 17411"/>
          <p:cNvSpPr/>
          <p:nvPr/>
        </p:nvSpPr>
        <p:spPr>
          <a:xfrm>
            <a:off x="384120" y="1993320"/>
            <a:ext cx="1552680" cy="621360"/>
          </a:xfrm>
          <a:prstGeom prst="homePlate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Capture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locked exposure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hevron 17412"/>
          <p:cNvSpPr/>
          <p:nvPr/>
        </p:nvSpPr>
        <p:spPr>
          <a:xfrm>
            <a:off x="2028600" y="1993320"/>
            <a:ext cx="1552680" cy="62136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Detect markers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ArUco / fiducial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hevron 17413"/>
          <p:cNvSpPr/>
          <p:nvPr/>
        </p:nvSpPr>
        <p:spPr>
          <a:xfrm>
            <a:off x="3673440" y="1993320"/>
            <a:ext cx="1552680" cy="62136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Homography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mm → pixels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Chevron 17414"/>
          <p:cNvSpPr/>
          <p:nvPr/>
        </p:nvSpPr>
        <p:spPr>
          <a:xfrm>
            <a:off x="5317920" y="1993320"/>
            <a:ext cx="1552680" cy="62136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Project parts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footprint extents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hevron 17415"/>
          <p:cNvSpPr/>
          <p:nvPr/>
        </p:nvSpPr>
        <p:spPr>
          <a:xfrm>
            <a:off x="6962400" y="1993320"/>
            <a:ext cx="1552680" cy="62136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Template match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~2 ms/part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hevron 17416"/>
          <p:cNvSpPr/>
          <p:nvPr/>
        </p:nvSpPr>
        <p:spPr>
          <a:xfrm>
            <a:off x="8607240" y="1993320"/>
            <a:ext cx="1552680" cy="62136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Verdict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IPC-A-610 classes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hevron 17417"/>
          <p:cNvSpPr/>
          <p:nvPr/>
        </p:nvSpPr>
        <p:spPr>
          <a:xfrm>
            <a:off x="10251720" y="1993320"/>
            <a:ext cx="1552680" cy="621360"/>
          </a:xfrm>
          <a:prstGeom prst="chevron">
            <a:avLst>
              <a:gd name="adj" fmla="val 22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360" rIns="27360" tIns="0" bIns="0" anchor="ctr">
            <a:noAutofit/>
          </a:bodyPr>
          <a:p>
            <a:pPr algn="ctr" defTabSz="457200">
              <a:lnSpc>
                <a:spcPct val="90000"/>
              </a:lnSpc>
            </a:pPr>
            <a:r>
              <a:rPr b="1" lang="en-US" sz="9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Persist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</a:pPr>
            <a:r>
              <a:rPr b="0" lang="en-US" sz="8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append-only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7418"/>
          <p:cNvSpPr/>
          <p:nvPr/>
        </p:nvSpPr>
        <p:spPr>
          <a:xfrm>
            <a:off x="384120" y="283464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TWO-PATH ARCHITECTURE (ADR-002)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Table 17419"/>
          <p:cNvGraphicFramePr/>
          <p:nvPr/>
        </p:nvGraphicFramePr>
        <p:xfrm>
          <a:off x="384120" y="3182040"/>
          <a:ext cx="5577480" cy="987480"/>
        </p:xfrm>
        <a:graphic>
          <a:graphicData uri="http://schemas.openxmlformats.org/drawingml/2006/table">
            <a:tbl>
              <a:tblPr/>
              <a:tblGrid>
                <a:gridCol w="1673280"/>
                <a:gridCol w="1784880"/>
                <a:gridCol w="211932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Path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Needs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Gives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 — Golden differencing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One known-good board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Regions that differ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B — CAD registration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Gerber + pick-and-place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Defects named by designator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9" name="TextBox 17420"/>
          <p:cNvSpPr/>
          <p:nvPr/>
        </p:nvSpPr>
        <p:spPr>
          <a:xfrm>
            <a:off x="384120" y="413316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Path A works with </a:t>
            </a:r>
            <a:r>
              <a:rPr b="1" lang="en-US" sz="10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zero design files</a:t>
            </a:r>
            <a:r>
              <a:rPr b="0" lang="en-US" sz="1000" strike="noStrike" u="none">
                <a:solidFill>
                  <a:srgbClr val="595959"/>
                </a:solidFill>
                <a:effectLst/>
                <a:uFillTx/>
                <a:latin typeface="Calibri"/>
                <a:ea typeface="ＭＳ Ｐゴシック"/>
              </a:rPr>
              <a:t>, so the demo cannot be blocked by a missing CAD↔board pair. Path B is the differentiator.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7421"/>
          <p:cNvSpPr/>
          <p:nvPr/>
        </p:nvSpPr>
        <p:spPr>
          <a:xfrm>
            <a:off x="6172200" y="283464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TECHNOLOGY STACK — permissive licences only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1" name="Table 17422"/>
          <p:cNvGraphicFramePr/>
          <p:nvPr/>
        </p:nvGraphicFramePr>
        <p:xfrm>
          <a:off x="6172200" y="3182040"/>
          <a:ext cx="5577480" cy="1330200"/>
        </p:xfrm>
        <a:graphic>
          <a:graphicData uri="http://schemas.openxmlformats.org/drawingml/2006/table">
            <a:tbl>
              <a:tblPr/>
              <a:tblGrid>
                <a:gridCol w="1673280"/>
                <a:gridCol w="2509920"/>
                <a:gridCol w="139428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Layer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Choice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Licence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Computer vision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OpenCV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Apache-2.0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CAD parsing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pygerber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MIT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Backend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Python · FastAPI · SQLite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MIT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Operator UI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React + Vite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MIT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Compute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Laptop CPU / Raspberry Pi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Rounded Rectangle 17423"/>
          <p:cNvSpPr/>
          <p:nvPr/>
        </p:nvSpPr>
        <p:spPr>
          <a:xfrm>
            <a:off x="384120" y="4846320"/>
            <a:ext cx="11420640" cy="566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54720" bIns="54720" anchor="ctr">
            <a:noAutofit/>
          </a:bodyPr>
          <a:p>
            <a:pPr defTabSz="457200">
              <a:lnSpc>
                <a:spcPct val="95000"/>
              </a:lnSpc>
            </a:pPr>
            <a:r>
              <a:rPr b="1" lang="en-US" sz="10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Why not YOLO / deep learning?</a:t>
            </a:r>
            <a:r>
              <a:rPr b="0" lang="en-US" sz="10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   The latency budget allows ~6 ms per component on a CPU with no GPU — and Ultralytics is AGPL-3.0, so an MSME deploying it would inherit a copyleft obligation. Every dependency here is MIT, Apache-2.0 or BSD.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17424"/>
          <p:cNvSpPr/>
          <p:nvPr/>
        </p:nvSpPr>
        <p:spPr>
          <a:xfrm>
            <a:off x="384120" y="5523120"/>
            <a:ext cx="11420640" cy="566640"/>
          </a:xfrm>
          <a:prstGeom prst="roundRect">
            <a:avLst>
              <a:gd name="adj" fmla="val 6000"/>
            </a:avLst>
          </a:prstGeom>
          <a:solidFill>
            <a:srgbClr val="e6f2e7"/>
          </a:solidFill>
          <a:ln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54720" bIns="54720" anchor="ctr">
            <a:noAutofit/>
          </a:bodyPr>
          <a:p>
            <a:pPr defTabSz="457200">
              <a:lnSpc>
                <a:spcPct val="95000"/>
              </a:lnSpc>
            </a:pPr>
            <a:r>
              <a:rPr b="1" lang="en-US" sz="1050" strike="noStrike" u="none">
                <a:solidFill>
                  <a:srgbClr val="1b4d1e"/>
                </a:solidFill>
                <a:effectLst/>
                <a:uFillTx/>
                <a:latin typeface="Calibri"/>
                <a:ea typeface="ＭＳ Ｐゴシック"/>
              </a:rPr>
              <a:t>The hard part is registration, not comparison.</a:t>
            </a:r>
            <a:r>
              <a:rPr b="0" lang="en-US" sz="1050" strike="noStrike" u="none">
                <a:solidFill>
                  <a:srgbClr val="1b4d1e"/>
                </a:solidFill>
                <a:effectLst/>
                <a:uFillTx/>
                <a:latin typeface="Calibri"/>
                <a:ea typeface="ＭＳ Ｐゴシック"/>
              </a:rPr>
              <a:t>   CAD is in millimetres about a board datum; the camera sees pixels at unknown scale and perspective. Solving that homography is what makes "is C2 present?" answerable — and it needs Gerber knowledge </a:t>
            </a:r>
            <a:r>
              <a:rPr b="1" lang="en-US" sz="1050" strike="noStrike" u="none">
                <a:solidFill>
                  <a:srgbClr val="1b4d1e"/>
                </a:solidFill>
                <a:effectLst/>
                <a:uFillTx/>
                <a:latin typeface="Calibri"/>
                <a:ea typeface="ＭＳ Ｐゴシック"/>
              </a:rPr>
              <a:t>and</a:t>
            </a:r>
            <a:r>
              <a:rPr b="0" lang="en-US" sz="1050" strike="noStrike" u="none">
                <a:solidFill>
                  <a:srgbClr val="1b4d1e"/>
                </a:solidFill>
                <a:effectLst/>
                <a:uFillTx/>
                <a:latin typeface="Calibri"/>
                <a:ea typeface="ＭＳ Ｐゴシック"/>
              </a:rPr>
              <a:t> computer vision.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84120" y="969120"/>
            <a:ext cx="11420640" cy="51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500" strike="noStrike" u="none">
                <a:solidFill>
                  <a:srgbClr val="1f3864"/>
                </a:solidFill>
                <a:effectLst/>
                <a:uFillTx/>
                <a:latin typeface="Times New Roman"/>
                <a:ea typeface="ＭＳ Ｐゴシック"/>
              </a:rPr>
              <a:t>SOLUTION FEASIBILITY &amp; VIABILITY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5" name="Picture 1" descr="A logo with a person in a blue yellow and red circle&#10;&#10;Description automatically generated"/>
          <p:cNvPicPr/>
          <p:nvPr/>
        </p:nvPicPr>
        <p:blipFill>
          <a:blip r:embed="rId1"/>
          <a:stretch/>
        </p:blipFill>
        <p:spPr>
          <a:xfrm>
            <a:off x="10480320" y="191520"/>
            <a:ext cx="1391040" cy="74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2" descr=""/>
          <p:cNvPicPr/>
          <p:nvPr/>
        </p:nvPicPr>
        <p:blipFill>
          <a:blip r:embed="rId2"/>
          <a:stretch/>
        </p:blipFill>
        <p:spPr>
          <a:xfrm>
            <a:off x="8849520" y="171360"/>
            <a:ext cx="139104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11" descr=""/>
          <p:cNvPicPr/>
          <p:nvPr/>
        </p:nvPicPr>
        <p:blipFill>
          <a:blip r:embed="rId3"/>
          <a:stretch/>
        </p:blipFill>
        <p:spPr>
          <a:xfrm>
            <a:off x="2300400" y="205560"/>
            <a:ext cx="1475640" cy="7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12" descr=""/>
          <p:cNvPicPr/>
          <p:nvPr/>
        </p:nvPicPr>
        <p:blipFill>
          <a:blip r:embed="rId4"/>
          <a:stretch/>
        </p:blipFill>
        <p:spPr>
          <a:xfrm>
            <a:off x="234000" y="205560"/>
            <a:ext cx="1902960" cy="7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3"/>
          <p:cNvSpPr/>
          <p:nvPr/>
        </p:nvSpPr>
        <p:spPr>
          <a:xfrm>
            <a:off x="0" y="6492960"/>
            <a:ext cx="12191760" cy="3646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ldNum" idx="39"/>
          </p:nvPr>
        </p:nvSpPr>
        <p:spPr>
          <a:xfrm>
            <a:off x="9121320" y="64886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144200-5B25-4207-808C-24BBA1C24FA3}" type="slidenum">
              <a: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Rectangle 17409"/>
          <p:cNvSpPr/>
          <p:nvPr/>
        </p:nvSpPr>
        <p:spPr>
          <a:xfrm>
            <a:off x="384120" y="1517760"/>
            <a:ext cx="11420640" cy="3168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132" name="Rounded Rectangle 17410"/>
          <p:cNvSpPr/>
          <p:nvPr/>
        </p:nvSpPr>
        <p:spPr>
          <a:xfrm>
            <a:off x="384120" y="164592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ALREADY BUILT AND VERIFIED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" name="Table 17411"/>
          <p:cNvGraphicFramePr/>
          <p:nvPr/>
        </p:nvGraphicFramePr>
        <p:xfrm>
          <a:off x="384120" y="1993320"/>
          <a:ext cx="5577480" cy="1375920"/>
        </p:xfrm>
        <a:graphic>
          <a:graphicData uri="http://schemas.openxmlformats.org/drawingml/2006/table">
            <a:tbl>
              <a:tblPr/>
              <a:tblGrid>
                <a:gridCol w="2900160"/>
                <a:gridCol w="267732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Capability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Evidence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2239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Full pipeline, end to end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154 unit tests, 0 failing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Frontend ↔ backend wiring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29 / 29 integration checks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239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Defect naming + classification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absent / rotated / offset + measurement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Audit trail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append-only records, CSV export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239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Runs with no camera at all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demo mode + simulated bench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Rounded Rectangle 17412"/>
          <p:cNvSpPr/>
          <p:nvPr/>
        </p:nvSpPr>
        <p:spPr>
          <a:xfrm>
            <a:off x="6172200" y="164592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INDICATIVE BILL OF MATERIALS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5" name="Table 17413"/>
          <p:cNvGraphicFramePr/>
          <p:nvPr/>
        </p:nvGraphicFramePr>
        <p:xfrm>
          <a:off x="6172200" y="1993320"/>
          <a:ext cx="5577480" cy="1389960"/>
        </p:xfrm>
        <a:graphic>
          <a:graphicData uri="http://schemas.openxmlformats.org/drawingml/2006/table">
            <a:tbl>
              <a:tblPr/>
              <a:tblGrid>
                <a:gridCol w="4015800"/>
                <a:gridCol w="156168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Item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Cost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18288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USB webcam, 1080p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₹1,200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LED ring light + diffuser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₹900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Fixed jig, mount, enclosure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₹1,600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Raspberry Pi (optional edge node)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₹4,800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Laptop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already owned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Total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&lt; ₹10,000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6" name="Rounded Rectangle 17414"/>
          <p:cNvSpPr/>
          <p:nvPr/>
        </p:nvSpPr>
        <p:spPr>
          <a:xfrm>
            <a:off x="384120" y="3529440"/>
            <a:ext cx="11420640" cy="27396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RISKS AND HOW EACH IS CONTAINED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Table 17415"/>
          <p:cNvGraphicFramePr/>
          <p:nvPr/>
        </p:nvGraphicFramePr>
        <p:xfrm>
          <a:off x="384120" y="3877200"/>
          <a:ext cx="11420640" cy="1865160"/>
        </p:xfrm>
        <a:graphic>
          <a:graphicData uri="http://schemas.openxmlformats.org/drawingml/2006/table">
            <a:tbl>
              <a:tblPr/>
              <a:tblGrid>
                <a:gridCol w="2512440"/>
                <a:gridCol w="4111200"/>
                <a:gridCol w="479664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Risk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Why it matters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Containment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021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Illumination instability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Dominant term</a:t>
                      </a: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 in the false-call rate — larger than any algorithm change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Stability gate refuses to trust thresholds above 2 grey levels; degraded state shown, not hidden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Camera refuses exposure lock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Breaks golden-board comparison between captures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Detected and reported; enclosure controls ambient light; reproduced in simulation for testing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1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No matched CAD ↔ board pair yet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Path B cannot be demonstrated on that board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Two-path design — Path A needs no design files at all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Hardware failure on demo day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Loses the live demonstration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Demo mode is a complete working station with no camera attached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Rounded Rectangle 17416"/>
          <p:cNvSpPr/>
          <p:nvPr/>
        </p:nvSpPr>
        <p:spPr>
          <a:xfrm>
            <a:off x="384120" y="5706000"/>
            <a:ext cx="11420640" cy="54828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>
            <a:solidFill>
              <a:srgbClr val="bf8f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54720" bIns="54720" anchor="ctr">
            <a:noAutofit/>
          </a:bodyPr>
          <a:p>
            <a:pPr defTabSz="457200">
              <a:lnSpc>
                <a:spcPct val="95000"/>
              </a:lnSpc>
            </a:pPr>
            <a:r>
              <a:rPr b="1" lang="en-US" sz="1050" strike="noStrike" u="none">
                <a:solidFill>
                  <a:srgbClr val="6b4e00"/>
                </a:solidFill>
                <a:effectLst/>
                <a:uFillTx/>
                <a:latin typeface="Calibri"/>
                <a:ea typeface="ＭＳ Ｐゴシック"/>
              </a:rPr>
              <a:t>Stated honestly:</a:t>
            </a:r>
            <a:r>
              <a:rPr b="0" lang="en-US" sz="1050" strike="noStrike" u="none">
                <a:solidFill>
                  <a:srgbClr val="6b4e00"/>
                </a:solidFill>
                <a:effectLst/>
                <a:uFillTx/>
                <a:latin typeface="Calibri"/>
                <a:ea typeface="ＭＳ Ｐゴシック"/>
              </a:rPr>
              <a:t> recall and false-call rate are </a:t>
            </a:r>
            <a:r>
              <a:rPr b="1" lang="en-US" sz="1050" strike="noStrike" u="none">
                <a:solidFill>
                  <a:srgbClr val="6b4e00"/>
                </a:solidFill>
                <a:effectLst/>
                <a:uFillTx/>
                <a:latin typeface="Calibri"/>
                <a:ea typeface="ＭＳ Ｐゴシック"/>
              </a:rPr>
              <a:t>not yet measured</a:t>
            </a:r>
            <a:r>
              <a:rPr b="0" lang="en-US" sz="1050" strike="noStrike" u="none">
                <a:solidFill>
                  <a:srgbClr val="6b4e00"/>
                </a:solidFill>
                <a:effectLst/>
                <a:uFillTx/>
                <a:latin typeface="Calibri"/>
                <a:ea typeface="ＭＳ Ｐゴシック"/>
              </a:rPr>
              <a:t> — that needs seeded defects on real boards. We offer falsifiability instead: hand us a board, pull a component, and we will re-run it in front of you.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9951840" y="1897920"/>
            <a:ext cx="197208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mimo v2.5 vs dee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84120" y="969120"/>
            <a:ext cx="11420640" cy="51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500" strike="noStrike" u="none">
                <a:solidFill>
                  <a:srgbClr val="1f3864"/>
                </a:solidFill>
                <a:effectLst/>
                <a:uFillTx/>
                <a:latin typeface="Times New Roman"/>
                <a:ea typeface="ＭＳ Ｐゴシック"/>
              </a:rPr>
              <a:t>REAL WORLD IMPACTS, BENEFITS &amp; RELEVANCE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Picture 1" descr="A logo with a person in a blue yellow and red circle&#10;&#10;Description automatically generated"/>
          <p:cNvPicPr/>
          <p:nvPr/>
        </p:nvPicPr>
        <p:blipFill>
          <a:blip r:embed="rId1"/>
          <a:stretch/>
        </p:blipFill>
        <p:spPr>
          <a:xfrm>
            <a:off x="10480320" y="191520"/>
            <a:ext cx="1391040" cy="74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2" descr=""/>
          <p:cNvPicPr/>
          <p:nvPr/>
        </p:nvPicPr>
        <p:blipFill>
          <a:blip r:embed="rId2"/>
          <a:stretch/>
        </p:blipFill>
        <p:spPr>
          <a:xfrm>
            <a:off x="8849520" y="171360"/>
            <a:ext cx="139104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11" descr=""/>
          <p:cNvPicPr/>
          <p:nvPr/>
        </p:nvPicPr>
        <p:blipFill>
          <a:blip r:embed="rId3"/>
          <a:stretch/>
        </p:blipFill>
        <p:spPr>
          <a:xfrm>
            <a:off x="2300400" y="205560"/>
            <a:ext cx="1475640" cy="7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12" descr=""/>
          <p:cNvPicPr/>
          <p:nvPr/>
        </p:nvPicPr>
        <p:blipFill>
          <a:blip r:embed="rId4"/>
          <a:stretch/>
        </p:blipFill>
        <p:spPr>
          <a:xfrm>
            <a:off x="234000" y="205560"/>
            <a:ext cx="1902960" cy="7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Rectangle 13"/>
          <p:cNvSpPr/>
          <p:nvPr/>
        </p:nvSpPr>
        <p:spPr>
          <a:xfrm>
            <a:off x="0" y="6492960"/>
            <a:ext cx="12191760" cy="3646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ldNum" idx="40"/>
          </p:nvPr>
        </p:nvSpPr>
        <p:spPr>
          <a:xfrm>
            <a:off x="9121320" y="64886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B12143-C942-4DA0-84AE-0B50F578D8C8}" type="slidenum">
              <a: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Rectangle 17409"/>
          <p:cNvSpPr/>
          <p:nvPr/>
        </p:nvSpPr>
        <p:spPr>
          <a:xfrm>
            <a:off x="384120" y="1517760"/>
            <a:ext cx="11420640" cy="3168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148" name="Rounded Rectangle 17410"/>
          <p:cNvSpPr/>
          <p:nvPr/>
        </p:nvSpPr>
        <p:spPr>
          <a:xfrm>
            <a:off x="384120" y="1645920"/>
            <a:ext cx="11420640" cy="27396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WHAT CHANGES ON THE SHOP FLOOR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17411"/>
          <p:cNvGraphicFramePr/>
          <p:nvPr/>
        </p:nvGraphicFramePr>
        <p:xfrm>
          <a:off x="384120" y="1993320"/>
          <a:ext cx="11420640" cy="1682280"/>
        </p:xfrm>
        <a:graphic>
          <a:graphicData uri="http://schemas.openxmlformats.org/drawingml/2006/table">
            <a:tbl>
              <a:tblPr/>
              <a:tblGrid>
                <a:gridCol w="1941480"/>
                <a:gridCol w="4111200"/>
                <a:gridCol w="536760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Today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With GerberEye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Method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Eye + magnifier + printed assembly drawing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Camera + the shop's own design files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Time per board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2–5 minutes of concentrated attention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Seconds, unattended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What the operator is told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"Something looks wrong here"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"U1 rotated 90°. C2 missing. R5 off its pads by 1.6 mm"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Record of inspection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 signature on a sheet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Machine-generated record, exportable as CSV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Cost to automate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₹15–50 lakh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Under ₹10,000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Rounded Rectangle 17412"/>
          <p:cNvSpPr/>
          <p:nvPr/>
        </p:nvSpPr>
        <p:spPr>
          <a:xfrm>
            <a:off x="384120" y="3749040"/>
            <a:ext cx="3666240" cy="27396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ECONOMIC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7413"/>
          <p:cNvSpPr/>
          <p:nvPr/>
        </p:nvSpPr>
        <p:spPr>
          <a:xfrm>
            <a:off x="384120" y="4096440"/>
            <a:ext cx="3666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Defects caught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in-house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, not at the customer's incoming inspection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An inspection trail lets an MSME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bid for contracts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that require one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Recurring-defect trends turn detection into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process improvement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— a feeder fault, not a rework job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7414"/>
          <p:cNvSpPr/>
          <p:nvPr/>
        </p:nvSpPr>
        <p:spPr>
          <a:xfrm>
            <a:off x="4260960" y="3749040"/>
            <a:ext cx="3666240" cy="27396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SOCIAL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7415"/>
          <p:cNvSpPr/>
          <p:nvPr/>
        </p:nvSpPr>
        <p:spPr>
          <a:xfrm>
            <a:off x="4260960" y="4096440"/>
            <a:ext cx="3666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The operator is always the authority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— one-click override, no form to fill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Augments the inspector rather than replacing them;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no de-skilling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Removes the fatigue-driven error that eye inspection makes inevitable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7416"/>
          <p:cNvSpPr/>
          <p:nvPr/>
        </p:nvSpPr>
        <p:spPr>
          <a:xfrm>
            <a:off x="8138160" y="3749040"/>
            <a:ext cx="3666240" cy="2739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STRATEGIC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7417"/>
          <p:cNvSpPr/>
          <p:nvPr/>
        </p:nvSpPr>
        <p:spPr>
          <a:xfrm>
            <a:off x="8138160" y="4096440"/>
            <a:ext cx="3666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Frugal Industry 4.0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for MSMEs — aligned with SAMARTH Udyog Bharat 4.0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Zero network egress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— customer design IP never leaves the machine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Built to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IPC-A-610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defect taxonomy;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IPC-2591 (CFX)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ready for MES integration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7418"/>
          <p:cNvSpPr/>
          <p:nvPr/>
        </p:nvSpPr>
        <p:spPr>
          <a:xfrm>
            <a:off x="384120" y="5669280"/>
            <a:ext cx="11420640" cy="6030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54720" bIns="5472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1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CAD software checks whether the design is correct. GerberEye checks whether the board in your hand matches it.</a:t>
            </a:r>
            <a:r>
              <a:rPr b="0" lang="en-US" sz="11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   Design defects happen once; assembly defects happen on every unit, on every shift.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384120" y="969120"/>
            <a:ext cx="11420640" cy="51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500" strike="noStrike" u="none">
                <a:solidFill>
                  <a:srgbClr val="1f3864"/>
                </a:solidFill>
                <a:effectLst/>
                <a:uFillTx/>
                <a:latin typeface="Times New Roman"/>
                <a:ea typeface="ＭＳ Ｐゴシック"/>
              </a:rPr>
              <a:t>TEAM CAPABILITY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8" name="Picture 1" descr="A logo with a person in a blue yellow and red circle&#10;&#10;Description automatically generated"/>
          <p:cNvPicPr/>
          <p:nvPr/>
        </p:nvPicPr>
        <p:blipFill>
          <a:blip r:embed="rId1"/>
          <a:stretch/>
        </p:blipFill>
        <p:spPr>
          <a:xfrm>
            <a:off x="10480320" y="191520"/>
            <a:ext cx="1391040" cy="74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Picture 2" descr=""/>
          <p:cNvPicPr/>
          <p:nvPr/>
        </p:nvPicPr>
        <p:blipFill>
          <a:blip r:embed="rId2"/>
          <a:stretch/>
        </p:blipFill>
        <p:spPr>
          <a:xfrm>
            <a:off x="8849520" y="171360"/>
            <a:ext cx="139104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11" descr=""/>
          <p:cNvPicPr/>
          <p:nvPr/>
        </p:nvPicPr>
        <p:blipFill>
          <a:blip r:embed="rId3"/>
          <a:stretch/>
        </p:blipFill>
        <p:spPr>
          <a:xfrm>
            <a:off x="2300400" y="205560"/>
            <a:ext cx="1475640" cy="7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Picture 12" descr=""/>
          <p:cNvPicPr/>
          <p:nvPr/>
        </p:nvPicPr>
        <p:blipFill>
          <a:blip r:embed="rId4"/>
          <a:stretch/>
        </p:blipFill>
        <p:spPr>
          <a:xfrm>
            <a:off x="234000" y="205560"/>
            <a:ext cx="1902960" cy="7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Rectangle 13"/>
          <p:cNvSpPr/>
          <p:nvPr/>
        </p:nvSpPr>
        <p:spPr>
          <a:xfrm>
            <a:off x="0" y="6492960"/>
            <a:ext cx="12191760" cy="3646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ldNum" idx="41"/>
          </p:nvPr>
        </p:nvSpPr>
        <p:spPr>
          <a:xfrm>
            <a:off x="9121320" y="64886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395988-6F9C-41E0-8D9D-81C89EC83768}" type="slidenum">
              <a: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Rectangle 17409"/>
          <p:cNvSpPr/>
          <p:nvPr/>
        </p:nvSpPr>
        <p:spPr>
          <a:xfrm>
            <a:off x="384120" y="1517760"/>
            <a:ext cx="11420640" cy="3168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165" name="Rounded Rectangle 17410"/>
          <p:cNvSpPr/>
          <p:nvPr/>
        </p:nvSpPr>
        <p:spPr>
          <a:xfrm>
            <a:off x="384120" y="164592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TEAM AND ROLES  —  5 CSE + 1 ECE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6" name="Table 17411"/>
          <p:cNvGraphicFramePr/>
          <p:nvPr/>
        </p:nvGraphicFramePr>
        <p:xfrm>
          <a:off x="384120" y="1993320"/>
          <a:ext cx="5577480" cy="1545120"/>
        </p:xfrm>
        <a:graphic>
          <a:graphicData uri="http://schemas.openxmlformats.org/drawingml/2006/table">
            <a:tbl>
              <a:tblPr/>
              <a:tblGrid>
                <a:gridCol w="2454120"/>
                <a:gridCol w="312336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Stream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Ownership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Capture &amp; golden reference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ECE — jig, lighting, camera settings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Differencing engine (Path A)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CSE — computer vision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CAD registration (Path B)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CSE — Gerber / pick-and-place, homography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Backend &amp; data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CSE — FastAPI, SQLite, records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Operator UI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CSE — React, overlay, override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45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Demo, risk &amp; pitch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Team lead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7" name="Rounded Rectangle 17412"/>
          <p:cNvSpPr/>
          <p:nvPr/>
        </p:nvSpPr>
        <p:spPr>
          <a:xfrm>
            <a:off x="6172200" y="164592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PROOF OF WORK — this repository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8" name="Table 17413"/>
          <p:cNvGraphicFramePr/>
          <p:nvPr/>
        </p:nvGraphicFramePr>
        <p:xfrm>
          <a:off x="6172200" y="1993320"/>
          <a:ext cx="5577480" cy="1621440"/>
        </p:xfrm>
        <a:graphic>
          <a:graphicData uri="http://schemas.openxmlformats.org/drawingml/2006/table">
            <a:tbl>
              <a:tblPr/>
              <a:tblGrid>
                <a:gridCol w="2119320"/>
                <a:gridCol w="345816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Artefact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Scale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Requirements engineering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27 functional, 13 non-functional, 16 stakeholder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Architecture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 ADRs, C4 model, ATAM-lite evaluation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Implementation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~7,800 lines; 154 tests; 29 integration checks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Traceability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Every requirement traced both directions, orphan-checked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Working prototype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Runs end to end today, with no hardware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9" name="Rounded Rectangle 17414"/>
          <p:cNvSpPr/>
          <p:nvPr/>
        </p:nvSpPr>
        <p:spPr>
          <a:xfrm>
            <a:off x="384120" y="3730680"/>
            <a:ext cx="11420640" cy="27396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WHY THIS DOMAIN — AND WHAT WE FOUND IN OUR OWN SYSTEM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7415"/>
          <p:cNvSpPr/>
          <p:nvPr/>
        </p:nvSpPr>
        <p:spPr>
          <a:xfrm>
            <a:off x="384120" y="4078080"/>
            <a:ext cx="11420640" cy="10512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54720" bIns="54720" anchor="ctr">
            <a:noAutofit/>
          </a:bodyPr>
          <a:p>
            <a:r>
              <a:rPr b="0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We benchmarked against a </a:t>
            </a:r>
            <a:r>
              <a:rPr b="1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221-component 0603 board</a:t>
            </a:r>
            <a:r>
              <a:rPr b="0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 rather than our own demo board. </a:t>
            </a:r>
            <a:r>
              <a:rPr b="1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Two of five seeded defects were missed — both of them 'missing components'</a:t>
            </a:r>
            <a:r>
              <a:rPr b="0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, the class that should be easiest. A removed 0603 changes ~100 px² of contour area; the default noise floor was 120 px², so the region was discarded and </a:t>
            </a:r>
            <a:r>
              <a:rPr b="1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the board reported PASS</a:t>
            </a:r>
            <a:r>
              <a:rPr b="0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</a:pPr>
            <a:r>
              <a:rPr b="0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That is an escape, not a false call — the dangerous direction. The station now computes the smallest component's expected change from its footprint and </a:t>
            </a:r>
            <a:r>
              <a:rPr b="1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warns when the threshold would hide it</a:t>
            </a:r>
            <a:r>
              <a:rPr b="0" lang="en-US" sz="110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7416"/>
          <p:cNvSpPr/>
          <p:nvPr/>
        </p:nvSpPr>
        <p:spPr>
          <a:xfrm>
            <a:off x="384120" y="5285160"/>
            <a:ext cx="11420640" cy="603000"/>
          </a:xfrm>
          <a:prstGeom prst="roundRect">
            <a:avLst>
              <a:gd name="adj" fmla="val 6000"/>
            </a:avLst>
          </a:prstGeom>
          <a:solidFill>
            <a:srgbClr val="e6f2e7"/>
          </a:solidFill>
          <a:ln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54720" bIns="5472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150" strike="noStrike" u="none">
                <a:solidFill>
                  <a:srgbClr val="1b4d1e"/>
                </a:solidFill>
                <a:effectLst/>
                <a:uFillTx/>
                <a:latin typeface="Calibri"/>
                <a:ea typeface="ＭＳ Ｐゴシック"/>
              </a:rPr>
              <a:t>Finding a silent recall failure in your own system, and building the guard that surfaces it, is the capability we would most like to be judged on.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84120" y="969120"/>
            <a:ext cx="11420640" cy="51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500" strike="noStrike" u="none">
                <a:solidFill>
                  <a:srgbClr val="1f3864"/>
                </a:solidFill>
                <a:effectLst/>
                <a:uFillTx/>
                <a:latin typeface="Times New Roman"/>
                <a:ea typeface="ＭＳ Ｐゴシック"/>
              </a:rPr>
              <a:t>RESEARCH AND REFERENCES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1" descr="A logo with a person in a blue yellow and red circle&#10;&#10;Description automatically generated"/>
          <p:cNvPicPr/>
          <p:nvPr/>
        </p:nvPicPr>
        <p:blipFill>
          <a:blip r:embed="rId1"/>
          <a:stretch/>
        </p:blipFill>
        <p:spPr>
          <a:xfrm>
            <a:off x="10480320" y="191520"/>
            <a:ext cx="1391040" cy="74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2" descr=""/>
          <p:cNvPicPr/>
          <p:nvPr/>
        </p:nvPicPr>
        <p:blipFill>
          <a:blip r:embed="rId2"/>
          <a:stretch/>
        </p:blipFill>
        <p:spPr>
          <a:xfrm>
            <a:off x="8849520" y="171360"/>
            <a:ext cx="139104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11" descr=""/>
          <p:cNvPicPr/>
          <p:nvPr/>
        </p:nvPicPr>
        <p:blipFill>
          <a:blip r:embed="rId3"/>
          <a:stretch/>
        </p:blipFill>
        <p:spPr>
          <a:xfrm>
            <a:off x="2300400" y="205560"/>
            <a:ext cx="1475640" cy="7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12" descr=""/>
          <p:cNvPicPr/>
          <p:nvPr/>
        </p:nvPicPr>
        <p:blipFill>
          <a:blip r:embed="rId4"/>
          <a:stretch/>
        </p:blipFill>
        <p:spPr>
          <a:xfrm>
            <a:off x="234000" y="205560"/>
            <a:ext cx="1902960" cy="7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ectangle 13"/>
          <p:cNvSpPr/>
          <p:nvPr/>
        </p:nvSpPr>
        <p:spPr>
          <a:xfrm>
            <a:off x="0" y="6492960"/>
            <a:ext cx="12191760" cy="36468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ldNum" idx="42"/>
          </p:nvPr>
        </p:nvSpPr>
        <p:spPr>
          <a:xfrm>
            <a:off x="9121320" y="64886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D54D17-1D83-4FFA-8F89-A42B6C67A358}" type="slidenum">
              <a:rPr b="1" lang="en-US" sz="1200" strike="noStrike" u="non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Rectangle 17409"/>
          <p:cNvSpPr/>
          <p:nvPr/>
        </p:nvSpPr>
        <p:spPr>
          <a:xfrm>
            <a:off x="384120" y="1517760"/>
            <a:ext cx="11420640" cy="3168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180" name="Rounded Rectangle 17410"/>
          <p:cNvSpPr/>
          <p:nvPr/>
        </p:nvSpPr>
        <p:spPr>
          <a:xfrm>
            <a:off x="384120" y="1645920"/>
            <a:ext cx="11420640" cy="2739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STANDARDS AND SPECIFICATIONS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1" name="Table 17411"/>
          <p:cNvGraphicFramePr/>
          <p:nvPr/>
        </p:nvGraphicFramePr>
        <p:xfrm>
          <a:off x="384120" y="1993320"/>
          <a:ext cx="11420640" cy="1572480"/>
        </p:xfrm>
        <a:graphic>
          <a:graphicData uri="http://schemas.openxmlformats.org/drawingml/2006/table">
            <a:tbl>
              <a:tblPr/>
              <a:tblGrid>
                <a:gridCol w="4339800"/>
                <a:gridCol w="7080840"/>
              </a:tblGrid>
              <a:tr h="25596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Reference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What it gives the project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32904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IPC-A-610</a:t>
                      </a: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 — Acceptability of Electronic Assemblies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The defect taxonomy: absent, misaligned, rotated, polarity-reversed, tombstoned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IPC-2591 (CFX)</a:t>
                      </a: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 — Connected Factory Exchange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The MES integration path — how an inspection station reports to a factory line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2904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Gerber RS-274X / X2</a:t>
                      </a: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 (Ucamco specification)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Board geometry; X2 attributes carry component and net metadata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Pick-and-place / centroid file</a:t>
                      </a: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 (CAD output)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Reference designator, X, Y, rotation, side — </a:t>
                      </a: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the ground truth used as the label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2" name="Rounded Rectangle 17412"/>
          <p:cNvSpPr/>
          <p:nvPr/>
        </p:nvSpPr>
        <p:spPr>
          <a:xfrm>
            <a:off x="384120" y="367596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LIBRARIES AND TECHNIQUES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7413"/>
          <p:cNvSpPr/>
          <p:nvPr/>
        </p:nvSpPr>
        <p:spPr>
          <a:xfrm>
            <a:off x="384120" y="4023360"/>
            <a:ext cx="55774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OpenCV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— ArUco marker detection, homography (RANSAC), ECC alignment, template matching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pygerber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— Gerber rendering to raster for CAD-to-camera reference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Golden-board differencing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— the classical AOI baseline, used as the no-design-files path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Surveyed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PatchCore / anomalib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few-shot anomaly detection — deferred: CPU latency budget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17414"/>
          <p:cNvSpPr/>
          <p:nvPr/>
        </p:nvSpPr>
        <p:spPr>
          <a:xfrm>
            <a:off x="6172200" y="3675960"/>
            <a:ext cx="5577480" cy="27396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rIns="4572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ＭＳ Ｐゴシック"/>
              </a:rPr>
              <a:t>FINDINGS THAT SHAPED THE DESIGN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7415"/>
          <p:cNvSpPr/>
          <p:nvPr/>
        </p:nvSpPr>
        <p:spPr>
          <a:xfrm>
            <a:off x="6172200" y="4023360"/>
            <a:ext cx="55774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Public PCB datasets (DeepPCB, HRIPCB) are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bare-board trace defects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— the wrong problem entirely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No usable public dataset of PCB assembly defects exists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→ so the design file must be the label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GitHub survey: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no prior art</a:t>
            </a: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 for projecting Gerber/pick-and-place onto a live camera frame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  <a:spcAft>
                <a:spcPts val="300"/>
              </a:spcAft>
            </a:pPr>
            <a:r>
              <a:rPr b="0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▸  Commercial AOI is vendor-locked and cloud-tied — </a:t>
            </a:r>
            <a:r>
              <a:rPr b="1" lang="en-US" sz="1050" strike="noStrike" u="none">
                <a:solidFill>
                  <a:srgbClr val="262626"/>
                </a:solidFill>
                <a:effectLst/>
                <a:uFillTx/>
                <a:latin typeface="Calibri"/>
                <a:ea typeface="ＭＳ Ｐゴシック"/>
              </a:rPr>
              <a:t>offline operation is a requirement, not a feature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7416"/>
          <p:cNvSpPr/>
          <p:nvPr/>
        </p:nvSpPr>
        <p:spPr>
          <a:xfrm>
            <a:off x="384120" y="5706000"/>
            <a:ext cx="11420640" cy="54828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54720" bIns="5472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1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Working prototype, requirements set and architecture decision records:</a:t>
            </a:r>
            <a:r>
              <a:rPr b="0" lang="en-US" sz="1150" strike="noStrike" u="none">
                <a:solidFill>
                  <a:srgbClr val="1f3864"/>
                </a:solidFill>
                <a:effectLst/>
                <a:uFillTx/>
                <a:latin typeface="Calibri"/>
                <a:ea typeface="ＭＳ Ｐゴシック"/>
              </a:rPr>
              <a:t>   github.com/Haise-727/pcb-catcher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8059</TotalTime>
  <Application>LibreOffice/25.8.2.2$Linux_X86_64 LibreOffice_project/580$Build-2</Application>
  <AppVersion>15.0000</AppVersion>
  <Words>302</Words>
  <Paragraphs>58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en-US</dc:language>
  <cp:lastModifiedBy/>
  <dcterms:modified xsi:type="dcterms:W3CDTF">2026-08-19T20:02:20Z</dcterms:modified>
  <cp:revision>154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8</vt:i4>
  </property>
</Properties>
</file>