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sldIdLst>
    <p:sldId id="291" r:id="rId2"/>
    <p:sldId id="281" r:id="rId3"/>
    <p:sldId id="290" r:id="rId4"/>
    <p:sldId id="293" r:id="rId5"/>
    <p:sldId id="294" r:id="rId6"/>
    <p:sldId id="298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60"/>
  </p:normalViewPr>
  <p:slideViewPr>
    <p:cSldViewPr snapToGrid="0" snapToObjects="1">
      <p:cViewPr varScale="1">
        <p:scale>
          <a:sx n="69" d="100"/>
          <a:sy n="69" d="100"/>
        </p:scale>
        <p:origin x="756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BFFC3-6203-13C5-E465-C1F1BAD64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54B58766-F168-D949-A1FB-1B7B65F16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225EBC7A-8C45-EA48-8134-82CE011ED5C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F8F01CA3-9C57-074A-74FE-69CBA406E7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76918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7100697" y="2120809"/>
            <a:ext cx="2731561" cy="2921476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84048" y="1975104"/>
            <a:ext cx="5760720" cy="384048"/>
          </a:xfrm>
        </p:spPr>
        <p:txBody>
          <a:bodyPr wrap="square"/>
          <a:lstStyle/>
          <a:p>
            <a:pPr algn="l"/>
            <a:r>
              <a:rPr sz="1400" i="1" b="0">
                <a:solidFill>
                  <a:srgbClr val="0070C0"/>
                </a:solidFill>
                <a:latin typeface="Times New Roman"/>
              </a:rPr>
              <a:t>The design file already knows what should be on the board.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782679" y="452775"/>
            <a:ext cx="10946314" cy="1383097"/>
          </a:xfrm>
        </p:spPr>
        <p:txBody>
          <a:bodyPr/>
          <a:lstStyle/>
          <a:p>
            <a:r>
              <a:rPr lang="en-US" sz="3600" b="1" dirty="0">
                <a:solidFill>
                  <a:schemeClr val="tx2"/>
                </a:solidFill>
                <a:latin typeface="Garamond" panose="02020404030301010803" pitchFamily="18" charset="0"/>
              </a:rPr>
              <a:t>VITISH 2026</a:t>
            </a:r>
            <a:br>
              <a:rPr lang="en-US" sz="3600" b="1" dirty="0">
                <a:solidFill>
                  <a:schemeClr val="tx2"/>
                </a:solidFill>
                <a:latin typeface="Garamond" panose="02020404030301010803" pitchFamily="18" charset="0"/>
              </a:rPr>
            </a:br>
            <a:r>
              <a:rPr lang="en-US" sz="3600" b="1" dirty="0">
                <a:solidFill>
                  <a:schemeClr val="tx2"/>
                </a:solidFill>
                <a:latin typeface="Garamond" panose="02020404030301010803" pitchFamily="18" charset="0"/>
              </a:rPr>
              <a:t>(SIH Internal Hackathon)</a:t>
            </a:r>
            <a:endParaRPr lang="en-IN" sz="36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2468880"/>
            <a:ext cx="5760720" cy="237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  <a:spcAft>
                <a:spcPts val="7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Problem Statement ID:  </a:t>
            </a:r>
            <a:r>
              <a:rPr sz="1300">
                <a:solidFill>
                  <a:srgbClr val="262626"/>
                </a:solidFill>
                <a:latin typeface="Calibri"/>
              </a:rPr>
              <a:t>VITISH-82</a:t>
            </a:r>
            <a:endParaRPr lang="en-US" dirty="0"/>
          </a:p>
          <a:p>
            <a:pPr>
              <a:lnSpc>
                <a:spcPct val="95000"/>
              </a:lnSpc>
              <a:spcAft>
                <a:spcPts val="7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Problem Statement Title:  </a:t>
            </a:r>
            <a:r>
              <a:rPr sz="1300">
                <a:solidFill>
                  <a:srgbClr val="262626"/>
                </a:solidFill>
                <a:latin typeface="Calibri"/>
              </a:rPr>
              <a:t>Low-cost Optical Inspection for PCB Assembly</a:t>
            </a:r>
          </a:p>
          <a:p>
            <a:pPr>
              <a:lnSpc>
                <a:spcPct val="95000"/>
              </a:lnSpc>
              <a:spcAft>
                <a:spcPts val="7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Theme:  </a:t>
            </a:r>
            <a:r>
              <a:rPr sz="1300">
                <a:solidFill>
                  <a:srgbClr val="262626"/>
                </a:solidFill>
                <a:latin typeface="Calibri"/>
              </a:rPr>
              <a:t>Smart Automation / Manufacturing</a:t>
            </a:r>
          </a:p>
          <a:p>
            <a:pPr>
              <a:lnSpc>
                <a:spcPct val="95000"/>
              </a:lnSpc>
              <a:spcAft>
                <a:spcPts val="7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PS Category:  </a:t>
            </a:r>
            <a:r>
              <a:rPr sz="1300">
                <a:solidFill>
                  <a:srgbClr val="262626"/>
                </a:solidFill>
                <a:latin typeface="Calibri"/>
              </a:rPr>
              <a:t>Hardware</a:t>
            </a:r>
          </a:p>
          <a:p>
            <a:pPr>
              <a:lnSpc>
                <a:spcPct val="95000"/>
              </a:lnSpc>
              <a:spcAft>
                <a:spcPts val="7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Idea Title:  </a:t>
            </a:r>
            <a:r>
              <a:rPr sz="1300">
                <a:solidFill>
                  <a:srgbClr val="262626"/>
                </a:solidFill>
                <a:latin typeface="Calibri"/>
              </a:rPr>
              <a:t>GerberEye — CAD-Referenced Optical Inspection</a:t>
            </a:r>
          </a:p>
          <a:p>
            <a:pPr>
              <a:lnSpc>
                <a:spcPct val="95000"/>
              </a:lnSpc>
              <a:spcAft>
                <a:spcPts val="7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Team Name:  </a:t>
            </a:r>
            <a:r>
              <a:rPr sz="1300">
                <a:solidFill>
                  <a:srgbClr val="262626"/>
                </a:solidFill>
                <a:latin typeface="Calibri"/>
              </a:rPr>
              <a:t>&lt;team name&gt;</a:t>
            </a:r>
          </a:p>
          <a:p>
            <a:pPr>
              <a:lnSpc>
                <a:spcPct val="95000"/>
              </a:lnSpc>
              <a:spcAft>
                <a:spcPts val="7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Team ID:  </a:t>
            </a:r>
            <a:r>
              <a:rPr sz="1300">
                <a:solidFill>
                  <a:srgbClr val="262626"/>
                </a:solidFill>
                <a:latin typeface="Calibri"/>
              </a:rPr>
              <a:t>&lt;team id&gt;</a:t>
            </a:r>
          </a:p>
        </p:txBody>
      </p:sp>
      <p:pic>
        <p:nvPicPr>
          <p:cNvPr id="12" name="Picture 11" descr="A logo with a person in a blue yellow and red circle&#10;&#10;Description automatically generated">
            <a:extLst>
              <a:ext uri="{FF2B5EF4-FFF2-40B4-BE49-F238E27FC236}">
                <a16:creationId xmlns:a16="http://schemas.microsoft.com/office/drawing/2014/main" id="{7A64D61F-5B8B-15E3-BC96-0ADAA37214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0451" y="191545"/>
            <a:ext cx="1391552" cy="7406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0E2C68-82E2-FD05-194A-E171A407F6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651" y="171182"/>
            <a:ext cx="1391552" cy="7675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6371CB0-1A59-51B4-E3F7-E33EA96070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0443" y="205614"/>
            <a:ext cx="1476130" cy="74166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591370C-3C8F-2DF3-1F44-F3D03B2480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48" y="205614"/>
            <a:ext cx="1903303" cy="729599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384048" y="4956048"/>
            <a:ext cx="1810512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2000"/>
              </a:lnSpc>
            </a:pPr>
            <a:r>
              <a:rPr sz="1900" b="1">
                <a:solidFill>
                  <a:srgbClr val="2E7D32"/>
                </a:solidFill>
                <a:latin typeface="Calibri"/>
              </a:rPr>
              <a:t>154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Calibri"/>
              </a:rPr>
              <a:t>unit tests passing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59152" y="4956048"/>
            <a:ext cx="1810512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2000"/>
              </a:lnSpc>
            </a:pPr>
            <a:r>
              <a:rPr sz="1900" b="1">
                <a:solidFill>
                  <a:srgbClr val="0070C0"/>
                </a:solidFill>
                <a:latin typeface="Calibri"/>
              </a:rPr>
              <a:t>29/29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Calibri"/>
              </a:rPr>
              <a:t>integration checks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34256" y="4956048"/>
            <a:ext cx="1810512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2000"/>
              </a:lnSpc>
            </a:pPr>
            <a:r>
              <a:rPr sz="1900" b="1">
                <a:solidFill>
                  <a:srgbClr val="1F3864"/>
                </a:solidFill>
                <a:latin typeface="Calibri"/>
              </a:rPr>
              <a:t>0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Calibri"/>
              </a:rPr>
              <a:t>network calls made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4048" y="5742432"/>
            <a:ext cx="5760720" cy="658368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1F3864"/>
                </a:solidFill>
                <a:latin typeface="Calibri"/>
              </a:rPr>
              <a:t>Commercial AOI: </a:t>
            </a:r>
            <a:r>
              <a:rPr sz="1200" b="1">
                <a:solidFill>
                  <a:srgbClr val="1F3864"/>
                </a:solidFill>
                <a:latin typeface="Calibri"/>
              </a:rPr>
              <a:t>₹15–50 lakh</a:t>
            </a:r>
            <a:r>
              <a:rPr sz="1200" b="0">
                <a:solidFill>
                  <a:srgbClr val="1F3864"/>
                </a:solidFill>
                <a:latin typeface="Calibri"/>
              </a:rPr>
              <a:t>.   This: </a:t>
            </a:r>
            <a:r>
              <a:rPr sz="1200" b="1">
                <a:solidFill>
                  <a:srgbClr val="1F3864"/>
                </a:solidFill>
                <a:latin typeface="Calibri"/>
              </a:rPr>
              <a:t>under ₹10,000</a:t>
            </a:r>
            <a:r>
              <a:rPr sz="1200" b="0">
                <a:solidFill>
                  <a:srgbClr val="1F3864"/>
                </a:solidFill>
                <a:latin typeface="Calibri"/>
              </a:rPr>
              <a:t>, on the laptop the shop already owns.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492874"/>
            <a:ext cx="12191999" cy="365126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384048" y="969264"/>
            <a:ext cx="11420856" cy="512064"/>
          </a:xfrm>
        </p:spPr>
        <p:txBody>
          <a:bodyPr wrap="square"/>
          <a:lstStyle/>
          <a:p>
            <a:pPr eaLnBrk="1" hangingPunct="1" algn="l"/>
            <a:r>
              <a:rPr sz="2500" b="1">
                <a:solidFill>
                  <a:srgbClr val="1F3864"/>
                </a:solidFill>
                <a:latin typeface="Times New Roman"/>
              </a:rPr>
              <a:t>IDEA TITLE — GerberEye: CAD-Referenced PCB Inspection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121426" y="6488777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2" name="Picture 1" descr="A logo with a person in a blue yellow and red circle&#10;&#10;Description automatically generated">
            <a:extLst>
              <a:ext uri="{FF2B5EF4-FFF2-40B4-BE49-F238E27FC236}">
                <a16:creationId xmlns:a16="http://schemas.microsoft.com/office/drawing/2014/main" id="{EA64F85A-4812-BFE5-1A0F-B9D56B80D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0451" y="191545"/>
            <a:ext cx="1391552" cy="74061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728C7FB-C129-34A7-CD8E-51B30CEC7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651" y="171182"/>
            <a:ext cx="1391552" cy="767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9D8CEE5-DB81-2FED-E18C-93C5EB0874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0443" y="205614"/>
            <a:ext cx="1476130" cy="7416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7B63282-0927-87F1-14CA-1FD03536B9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48" y="205614"/>
            <a:ext cx="1903303" cy="729599"/>
          </a:xfrm>
          <a:prstGeom prst="rect">
            <a:avLst/>
          </a:prstGeom>
        </p:spPr>
      </p:pic>
      <p:sp>
        <p:nvSpPr>
          <p:cNvPr id="15362" name="Rectangle 15361"/>
          <p:cNvSpPr/>
          <p:nvPr/>
        </p:nvSpPr>
        <p:spPr>
          <a:xfrm>
            <a:off x="384048" y="1517904"/>
            <a:ext cx="11420856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3" name="Rounded Rectangle 15362"/>
          <p:cNvSpPr/>
          <p:nvPr/>
        </p:nvSpPr>
        <p:spPr>
          <a:xfrm>
            <a:off x="384048" y="1664208"/>
            <a:ext cx="55778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011680"/>
            <a:ext cx="5577840" cy="1417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>
                <a:solidFill>
                  <a:srgbClr val="262626"/>
                </a:solidFill>
                <a:latin typeface="Calibri"/>
              </a:rPr>
              <a:t>▸  </a:t>
            </a:r>
            <a:r>
              <a:rPr sz="1150" b="0">
                <a:solidFill>
                  <a:srgbClr val="262626"/>
                </a:solidFill>
                <a:latin typeface="Calibri"/>
              </a:rPr>
              <a:t>An MSME inspects assembled PCBs </a:t>
            </a:r>
            <a:r>
              <a:rPr sz="1150" b="1">
                <a:solidFill>
                  <a:srgbClr val="262626"/>
                </a:solidFill>
                <a:latin typeface="Calibri"/>
              </a:rPr>
              <a:t>by eye</a:t>
            </a:r>
            <a:r>
              <a:rPr sz="1150" b="0">
                <a:solidFill>
                  <a:srgbClr val="262626"/>
                </a:solidFill>
                <a:latin typeface="Calibri"/>
              </a:rPr>
              <a:t>, under a magnifier lamp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>
                <a:solidFill>
                  <a:srgbClr val="262626"/>
                </a:solidFill>
                <a:latin typeface="Calibri"/>
              </a:rPr>
              <a:t>▸  </a:t>
            </a:r>
            <a:r>
              <a:rPr sz="1150" b="0">
                <a:solidFill>
                  <a:srgbClr val="262626"/>
                </a:solidFill>
                <a:latin typeface="Calibri"/>
              </a:rPr>
              <a:t>~</a:t>
            </a:r>
            <a:r>
              <a:rPr sz="1150" b="1">
                <a:solidFill>
                  <a:srgbClr val="262626"/>
                </a:solidFill>
                <a:latin typeface="Calibri"/>
              </a:rPr>
              <a:t>200 reference designators</a:t>
            </a:r>
            <a:r>
              <a:rPr sz="1150" b="0">
                <a:solidFill>
                  <a:srgbClr val="262626"/>
                </a:solidFill>
                <a:latin typeface="Calibri"/>
              </a:rPr>
              <a:t> cross-checked against a printed drawing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>
                <a:solidFill>
                  <a:srgbClr val="262626"/>
                </a:solidFill>
                <a:latin typeface="Calibri"/>
              </a:rPr>
              <a:t>▸  </a:t>
            </a:r>
            <a:r>
              <a:rPr sz="1150" b="0">
                <a:solidFill>
                  <a:srgbClr val="262626"/>
                </a:solidFill>
                <a:latin typeface="Calibri"/>
              </a:rPr>
              <a:t>Accuracy falls with </a:t>
            </a:r>
            <a:r>
              <a:rPr sz="1150" b="1">
                <a:solidFill>
                  <a:srgbClr val="262626"/>
                </a:solidFill>
                <a:latin typeface="Calibri"/>
              </a:rPr>
              <a:t>fatigue and board density</a:t>
            </a:r>
            <a:r>
              <a:rPr sz="1150" b="0">
                <a:solidFill>
                  <a:srgbClr val="262626"/>
                </a:solidFill>
                <a:latin typeface="Calibri"/>
              </a:rPr>
              <a:t>; nothing is recorded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>
                <a:solidFill>
                  <a:srgbClr val="262626"/>
                </a:solidFill>
                <a:latin typeface="Calibri"/>
              </a:rPr>
              <a:t>▸  </a:t>
            </a:r>
            <a:r>
              <a:rPr sz="1150" b="0">
                <a:solidFill>
                  <a:srgbClr val="262626"/>
                </a:solidFill>
                <a:latin typeface="Calibri"/>
              </a:rPr>
              <a:t>Automating it costs </a:t>
            </a:r>
            <a:r>
              <a:rPr sz="1150" b="1">
                <a:solidFill>
                  <a:srgbClr val="262626"/>
                </a:solidFill>
                <a:latin typeface="Calibri"/>
              </a:rPr>
              <a:t>₹15–50 lakh</a:t>
            </a:r>
            <a:r>
              <a:rPr sz="1150" b="0">
                <a:solidFill>
                  <a:srgbClr val="262626"/>
                </a:solidFill>
                <a:latin typeface="Calibri"/>
              </a:rPr>
              <a:t> — more than the shop earns in a year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6172200" y="1664208"/>
            <a:ext cx="5577840" cy="27432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THE INSIGHT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6172200" y="2011680"/>
            <a:ext cx="5577840" cy="1417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>
                <a:solidFill>
                  <a:srgbClr val="262626"/>
                </a:solidFill>
                <a:latin typeface="Calibri"/>
              </a:rPr>
              <a:t>▸  </a:t>
            </a:r>
            <a:r>
              <a:rPr sz="1150" b="0">
                <a:solidFill>
                  <a:srgbClr val="262626"/>
                </a:solidFill>
                <a:latin typeface="Calibri"/>
              </a:rPr>
              <a:t>The shop </a:t>
            </a:r>
            <a:r>
              <a:rPr sz="1150" b="1">
                <a:solidFill>
                  <a:srgbClr val="262626"/>
                </a:solidFill>
                <a:latin typeface="Calibri"/>
              </a:rPr>
              <a:t>already owns the design files</a:t>
            </a:r>
            <a:r>
              <a:rPr sz="1150" b="0">
                <a:solidFill>
                  <a:srgbClr val="262626"/>
                </a:solidFill>
                <a:latin typeface="Calibri"/>
              </a:rPr>
              <a:t> — it cannot manufacture without them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>
                <a:solidFill>
                  <a:srgbClr val="262626"/>
                </a:solidFill>
                <a:latin typeface="Calibri"/>
              </a:rPr>
              <a:t>▸  </a:t>
            </a:r>
            <a:r>
              <a:rPr sz="1150" b="0">
                <a:solidFill>
                  <a:srgbClr val="262626"/>
                </a:solidFill>
                <a:latin typeface="Calibri"/>
              </a:rPr>
              <a:t>The </a:t>
            </a:r>
            <a:r>
              <a:rPr sz="1150" b="1">
                <a:solidFill>
                  <a:srgbClr val="262626"/>
                </a:solidFill>
                <a:latin typeface="Calibri"/>
              </a:rPr>
              <a:t>pick-and-place file</a:t>
            </a:r>
            <a:r>
              <a:rPr sz="1150" b="0">
                <a:solidFill>
                  <a:srgbClr val="262626"/>
                </a:solidFill>
                <a:latin typeface="Calibri"/>
              </a:rPr>
              <a:t> states what sits at every coordinate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>
                <a:solidFill>
                  <a:srgbClr val="262626"/>
                </a:solidFill>
                <a:latin typeface="Calibri"/>
              </a:rPr>
              <a:t>▸  </a:t>
            </a:r>
            <a:r>
              <a:rPr sz="1150" b="0">
                <a:solidFill>
                  <a:srgbClr val="262626"/>
                </a:solidFill>
                <a:latin typeface="Calibri"/>
              </a:rPr>
              <a:t>So: </a:t>
            </a:r>
            <a:r>
              <a:rPr sz="1150" b="1">
                <a:solidFill>
                  <a:srgbClr val="262626"/>
                </a:solidFill>
                <a:latin typeface="Calibri"/>
              </a:rPr>
              <a:t>the design file is the label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150">
                <a:solidFill>
                  <a:srgbClr val="262626"/>
                </a:solidFill>
                <a:latin typeface="Calibri"/>
              </a:rPr>
              <a:t>▸  </a:t>
            </a:r>
            <a:r>
              <a:rPr sz="1150" b="1">
                <a:solidFill>
                  <a:srgbClr val="262626"/>
                </a:solidFill>
                <a:latin typeface="Calibri"/>
              </a:rPr>
              <a:t>No training data. No annotation. No dataset needed.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3529584"/>
            <a:ext cx="11420856" cy="27432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5368" name="Pentagon 15367"/>
          <p:cNvSpPr/>
          <p:nvPr/>
        </p:nvSpPr>
        <p:spPr>
          <a:xfrm>
            <a:off x="384048" y="3877056"/>
            <a:ext cx="1827276" cy="658368"/>
          </a:xfrm>
          <a:prstGeom prst="homePlate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Design files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Gerber · P&amp;P · BOM</a:t>
            </a:r>
          </a:p>
        </p:txBody>
      </p:sp>
      <p:sp>
        <p:nvSpPr>
          <p:cNvPr id="15369" name="Chevron 15368"/>
          <p:cNvSpPr/>
          <p:nvPr/>
        </p:nvSpPr>
        <p:spPr>
          <a:xfrm>
            <a:off x="2302764" y="3877056"/>
            <a:ext cx="1827276" cy="658368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Register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CAD → camera</a:t>
            </a:r>
          </a:p>
        </p:txBody>
      </p:sp>
      <p:sp>
        <p:nvSpPr>
          <p:cNvPr id="15370" name="Chevron 15369"/>
          <p:cNvSpPr/>
          <p:nvPr/>
        </p:nvSpPr>
        <p:spPr>
          <a:xfrm>
            <a:off x="4221480" y="3877056"/>
            <a:ext cx="1827276" cy="658368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Extract ROI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per component</a:t>
            </a:r>
          </a:p>
        </p:txBody>
      </p:sp>
      <p:sp>
        <p:nvSpPr>
          <p:cNvPr id="15371" name="Chevron 15370"/>
          <p:cNvSpPr/>
          <p:nvPr/>
        </p:nvSpPr>
        <p:spPr>
          <a:xfrm>
            <a:off x="6140196" y="3877056"/>
            <a:ext cx="1827276" cy="658368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Classify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absent/rotated/offset</a:t>
            </a:r>
          </a:p>
        </p:txBody>
      </p:sp>
      <p:sp>
        <p:nvSpPr>
          <p:cNvPr id="15372" name="Chevron 15371"/>
          <p:cNvSpPr/>
          <p:nvPr/>
        </p:nvSpPr>
        <p:spPr>
          <a:xfrm>
            <a:off x="8058911" y="3877056"/>
            <a:ext cx="1827276" cy="658368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Verdict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pass / fail</a:t>
            </a:r>
          </a:p>
        </p:txBody>
      </p:sp>
      <p:sp>
        <p:nvSpPr>
          <p:cNvPr id="15373" name="Chevron 15372"/>
          <p:cNvSpPr/>
          <p:nvPr/>
        </p:nvSpPr>
        <p:spPr>
          <a:xfrm>
            <a:off x="9977627" y="3877056"/>
            <a:ext cx="1827276" cy="658368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Record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CSV · trends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384048" y="4754880"/>
            <a:ext cx="11420856" cy="27432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INNOVATION &amp; UNIQUENESS</a:t>
            </a:r>
          </a:p>
        </p:txBody>
      </p:sp>
      <p:graphicFrame>
        <p:nvGraphicFramePr>
          <p:cNvPr id="15375" name="Table 15374"/>
          <p:cNvGraphicFramePr>
            <a:graphicFrameLocks noGrp="1"/>
          </p:cNvGraphicFramePr>
          <p:nvPr/>
        </p:nvGraphicFramePr>
        <p:xfrm>
          <a:off x="384048" y="5102352"/>
          <a:ext cx="11420855" cy="11521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1545"/>
                <a:gridCol w="4568342"/>
                <a:gridCol w="4910968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Conventional approach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GerberEye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Operator memory / printed drawing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The CAD file itself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Training data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Thousands of labelled defect images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None — the P&amp;P file is the label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"This board looks wrong"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"U1 rotated 90°, C2 missing"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Cost / connectivity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₹15–50 lakh, vendor-tied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&lt; ₹10,000, fully offline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84048" y="969264"/>
            <a:ext cx="11420856" cy="512064"/>
          </a:xfrm>
        </p:spPr>
        <p:txBody>
          <a:bodyPr wrap="square"/>
          <a:lstStyle/>
          <a:p>
            <a:pPr eaLnBrk="1" hangingPunct="1" algn="l"/>
            <a:r>
              <a:rPr sz="2500" b="1">
                <a:solidFill>
                  <a:srgbClr val="1F3864"/>
                </a:solidFill>
                <a:latin typeface="Times New Roman"/>
              </a:rPr>
              <a:t>TECHNICAL APPROACH</a:t>
            </a:r>
          </a:p>
        </p:txBody>
      </p:sp>
      <p:pic>
        <p:nvPicPr>
          <p:cNvPr id="2" name="Picture 1" descr="A logo with a person in a blue yellow and red circle&#10;&#10;Description automatically generated">
            <a:extLst>
              <a:ext uri="{FF2B5EF4-FFF2-40B4-BE49-F238E27FC236}">
                <a16:creationId xmlns:a16="http://schemas.microsoft.com/office/drawing/2014/main" id="{290C3FE7-BCAA-CE0E-1D86-8851C30CF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0451" y="191545"/>
            <a:ext cx="1391552" cy="74061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6A6042D-8042-92BF-FB24-295E833DA9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651" y="171182"/>
            <a:ext cx="1391552" cy="7675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51FBA56-21D2-F6A5-238D-E71D2C5198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0443" y="205614"/>
            <a:ext cx="1476130" cy="74166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D98971F-A754-C98B-3472-49C7BEE2DB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48" y="205614"/>
            <a:ext cx="1903303" cy="72959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6C9F656-3B5F-89C1-DEB3-9EA3B601AE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92874"/>
            <a:ext cx="12191999" cy="365126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3F7E0056-77E4-AEF9-9B10-BFD8B63DB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1426" y="6488777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7410" name="Rectangle 17409"/>
          <p:cNvSpPr/>
          <p:nvPr/>
        </p:nvSpPr>
        <p:spPr>
          <a:xfrm>
            <a:off x="384048" y="1517904"/>
            <a:ext cx="11420856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384048" y="1645920"/>
            <a:ext cx="11420856" cy="27432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INSPECTION PIPELINE  —  CPU only, no GPU, ~100 ms per board</a:t>
            </a:r>
          </a:p>
        </p:txBody>
      </p:sp>
      <p:sp>
        <p:nvSpPr>
          <p:cNvPr id="17412" name="Pentagon 17411"/>
          <p:cNvSpPr/>
          <p:nvPr/>
        </p:nvSpPr>
        <p:spPr>
          <a:xfrm>
            <a:off x="384048" y="1993392"/>
            <a:ext cx="1553173" cy="621792"/>
          </a:xfrm>
          <a:prstGeom prst="homePlate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Capture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locked exposure</a:t>
            </a:r>
          </a:p>
        </p:txBody>
      </p:sp>
      <p:sp>
        <p:nvSpPr>
          <p:cNvPr id="17413" name="Chevron 17412"/>
          <p:cNvSpPr/>
          <p:nvPr/>
        </p:nvSpPr>
        <p:spPr>
          <a:xfrm>
            <a:off x="2028661" y="1993392"/>
            <a:ext cx="1553173" cy="621792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Detect markers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ArUco / fiducial</a:t>
            </a:r>
          </a:p>
        </p:txBody>
      </p:sp>
      <p:sp>
        <p:nvSpPr>
          <p:cNvPr id="17414" name="Chevron 17413"/>
          <p:cNvSpPr/>
          <p:nvPr/>
        </p:nvSpPr>
        <p:spPr>
          <a:xfrm>
            <a:off x="3673275" y="1993392"/>
            <a:ext cx="1553173" cy="621792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Homography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mm → pixels</a:t>
            </a:r>
          </a:p>
        </p:txBody>
      </p:sp>
      <p:sp>
        <p:nvSpPr>
          <p:cNvPr id="17415" name="Chevron 17414"/>
          <p:cNvSpPr/>
          <p:nvPr/>
        </p:nvSpPr>
        <p:spPr>
          <a:xfrm>
            <a:off x="5317889" y="1993392"/>
            <a:ext cx="1553173" cy="621792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Project parts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footprint extents</a:t>
            </a:r>
          </a:p>
        </p:txBody>
      </p:sp>
      <p:sp>
        <p:nvSpPr>
          <p:cNvPr id="17416" name="Chevron 17415"/>
          <p:cNvSpPr/>
          <p:nvPr/>
        </p:nvSpPr>
        <p:spPr>
          <a:xfrm>
            <a:off x="6962502" y="1993392"/>
            <a:ext cx="1553173" cy="621792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Template match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~2 ms/part</a:t>
            </a:r>
          </a:p>
        </p:txBody>
      </p:sp>
      <p:sp>
        <p:nvSpPr>
          <p:cNvPr id="17417" name="Chevron 17416"/>
          <p:cNvSpPr/>
          <p:nvPr/>
        </p:nvSpPr>
        <p:spPr>
          <a:xfrm>
            <a:off x="8607116" y="1993392"/>
            <a:ext cx="1553173" cy="621792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Verdict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IPC-A-610 classes</a:t>
            </a:r>
          </a:p>
        </p:txBody>
      </p:sp>
      <p:sp>
        <p:nvSpPr>
          <p:cNvPr id="17418" name="Chevron 17417"/>
          <p:cNvSpPr/>
          <p:nvPr/>
        </p:nvSpPr>
        <p:spPr>
          <a:xfrm>
            <a:off x="10251730" y="1993392"/>
            <a:ext cx="1553173" cy="621792"/>
          </a:xfrm>
          <a:prstGeom prst="chevron">
            <a:avLst>
              <a:gd name="adj" fmla="val 22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90000"/>
              </a:lnSpc>
            </a:pPr>
            <a:r>
              <a:rPr sz="950" b="1">
                <a:solidFill>
                  <a:srgbClr val="1F3864"/>
                </a:solidFill>
                <a:latin typeface="Calibri"/>
              </a:rPr>
              <a:t>Persist</a:t>
            </a:r>
          </a:p>
          <a:p>
            <a:pPr algn="ctr">
              <a:lnSpc>
                <a:spcPct val="90000"/>
              </a:lnSpc>
            </a:pPr>
            <a:r>
              <a:rPr sz="800">
                <a:solidFill>
                  <a:srgbClr val="595959"/>
                </a:solidFill>
                <a:latin typeface="Calibri"/>
              </a:rPr>
              <a:t>append-only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84048" y="2834640"/>
            <a:ext cx="5577840" cy="27432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TWO-PATH ARCHITECTURE (ADR-002)</a:t>
            </a:r>
          </a:p>
        </p:txBody>
      </p:sp>
      <p:graphicFrame>
        <p:nvGraphicFramePr>
          <p:cNvPr id="17420" name="Table 17419"/>
          <p:cNvGraphicFramePr>
            <a:graphicFrameLocks noGrp="1"/>
          </p:cNvGraphicFramePr>
          <p:nvPr/>
        </p:nvGraphicFramePr>
        <p:xfrm>
          <a:off x="384048" y="3182112"/>
          <a:ext cx="5577839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73352"/>
                <a:gridCol w="1784908"/>
                <a:gridCol w="2119579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Gives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A — Golden differencing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One known-good board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Regions that differ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B — CAD registration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Gerber + pick-and-place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Calibri"/>
                        </a:rPr>
                        <a:t>Defects named by designator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421" name="TextBox 17420"/>
          <p:cNvSpPr txBox="1"/>
          <p:nvPr/>
        </p:nvSpPr>
        <p:spPr>
          <a:xfrm>
            <a:off x="384048" y="4133087"/>
            <a:ext cx="5577840" cy="5029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Path A works with </a:t>
            </a:r>
            <a:r>
              <a:rPr sz="1000" b="1">
                <a:solidFill>
                  <a:srgbClr val="595959"/>
                </a:solidFill>
                <a:latin typeface="Calibri"/>
              </a:rPr>
              <a:t>zero design files</a:t>
            </a:r>
            <a:r>
              <a:rPr sz="1000" b="0">
                <a:solidFill>
                  <a:srgbClr val="595959"/>
                </a:solidFill>
                <a:latin typeface="Calibri"/>
              </a:rPr>
              <a:t>, so the demo cannot be blocked by a missing CAD↔board pair. Path B is the differentiator.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172200" y="2834640"/>
            <a:ext cx="5577840" cy="27432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TECHNOLOGY STACK — permissive licences only</a:t>
            </a:r>
          </a:p>
        </p:txBody>
      </p:sp>
      <p:graphicFrame>
        <p:nvGraphicFramePr>
          <p:cNvPr id="17423" name="Table 17422"/>
          <p:cNvGraphicFramePr>
            <a:graphicFrameLocks noGrp="1"/>
          </p:cNvGraphicFramePr>
          <p:nvPr/>
        </p:nvGraphicFramePr>
        <p:xfrm>
          <a:off x="6172200" y="3182112"/>
          <a:ext cx="5577840" cy="13304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73352"/>
                <a:gridCol w="2510028"/>
                <a:gridCol w="1394460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Licence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Computer vision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OpenCV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CAD parsing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pygerber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MIT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Python · FastAPI · SQLite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MIT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Operator UI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React + Vite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MIT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Laptop CPU / Raspberry 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24" name="Rounded Rectangle 17423"/>
          <p:cNvSpPr/>
          <p:nvPr/>
        </p:nvSpPr>
        <p:spPr>
          <a:xfrm>
            <a:off x="384048" y="4846320"/>
            <a:ext cx="11420856" cy="566928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1F3864"/>
                </a:solidFill>
                <a:latin typeface="Calibri"/>
              </a:rPr>
              <a:t>Why not YOLO / deep learning?</a:t>
            </a:r>
            <a:r>
              <a:rPr sz="1050" b="0">
                <a:solidFill>
                  <a:srgbClr val="1F3864"/>
                </a:solidFill>
                <a:latin typeface="Calibri"/>
              </a:rPr>
              <a:t>   The latency budget allows ~6 ms per component on a CPU with no GPU — and Ultralytics is AGPL-3.0, so an MSME deploying it would inherit a copyleft obligation. Every dependency here is MIT, Apache-2.0 or BSD.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84048" y="5522976"/>
            <a:ext cx="11420856" cy="566928"/>
          </a:xfrm>
          <a:prstGeom prst="roundRect">
            <a:avLst>
              <a:gd name="adj" fmla="val 6000"/>
            </a:avLst>
          </a:prstGeom>
          <a:solidFill>
            <a:srgbClr val="E6F2E7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1B4D1E"/>
                </a:solidFill>
                <a:latin typeface="Calibri"/>
              </a:rPr>
              <a:t>The hard part is registration, not comparison.</a:t>
            </a:r>
            <a:r>
              <a:rPr sz="1050" b="0">
                <a:solidFill>
                  <a:srgbClr val="1B4D1E"/>
                </a:solidFill>
                <a:latin typeface="Calibri"/>
              </a:rPr>
              <a:t>   CAD is in millimetres about a board datum; the camera sees pixels at unknown scale and perspective. Solving that homography is what makes "is C2 present?" answerable — and it needs Gerber knowledge </a:t>
            </a:r>
            <a:r>
              <a:rPr sz="1050" b="1">
                <a:solidFill>
                  <a:srgbClr val="1B4D1E"/>
                </a:solidFill>
                <a:latin typeface="Calibri"/>
              </a:rPr>
              <a:t>and</a:t>
            </a:r>
            <a:r>
              <a:rPr sz="1050" b="0">
                <a:solidFill>
                  <a:srgbClr val="1B4D1E"/>
                </a:solidFill>
                <a:latin typeface="Calibri"/>
              </a:rPr>
              <a:t> computer vision.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84048" y="969264"/>
            <a:ext cx="11420856" cy="512064"/>
          </a:xfrm>
        </p:spPr>
        <p:txBody>
          <a:bodyPr wrap="square"/>
          <a:lstStyle/>
          <a:p>
            <a:pPr eaLnBrk="1" hangingPunct="1" algn="l"/>
            <a:r>
              <a:rPr sz="2500" b="1">
                <a:solidFill>
                  <a:srgbClr val="1F3864"/>
                </a:solidFill>
                <a:latin typeface="Times New Roman"/>
              </a:rPr>
              <a:t>SOLUTION FEASIBILITY &amp; VIABILITY</a:t>
            </a:r>
          </a:p>
        </p:txBody>
      </p:sp>
      <p:pic>
        <p:nvPicPr>
          <p:cNvPr id="2" name="Picture 1" descr="A logo with a person in a blue yellow and red circle&#10;&#10;Description automatically generated">
            <a:extLst>
              <a:ext uri="{FF2B5EF4-FFF2-40B4-BE49-F238E27FC236}">
                <a16:creationId xmlns:a16="http://schemas.microsoft.com/office/drawing/2014/main" id="{27787CA2-DF1E-E17A-8FF9-2EB55331D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0451" y="191545"/>
            <a:ext cx="1391552" cy="74061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8E6512-5D92-8D5C-6853-DB07DD0E1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651" y="171182"/>
            <a:ext cx="1391552" cy="7675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3EA0E46-96BA-CC87-BB26-9D0EAFC63C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0443" y="205614"/>
            <a:ext cx="1476130" cy="7416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3C8F8DF-8F86-5D8E-957B-D5CDC93369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48" y="205614"/>
            <a:ext cx="1903303" cy="72959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5B38342-6BFC-CC80-ACAA-BA3FCB20E6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92874"/>
            <a:ext cx="12191999" cy="365126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DEE5B70-B055-41F6-B17F-03162C64F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1426" y="6488777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7410" name="Rectangle 17409"/>
          <p:cNvSpPr/>
          <p:nvPr/>
        </p:nvSpPr>
        <p:spPr>
          <a:xfrm>
            <a:off x="384048" y="1517904"/>
            <a:ext cx="11420856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384048" y="1645920"/>
            <a:ext cx="5577840" cy="27432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ALREADY BUILT AND VERIFIED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384048" y="1993392"/>
          <a:ext cx="5577839" cy="13761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00476"/>
                <a:gridCol w="2677363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Full pipeline, end to end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Calibri"/>
                        </a:rPr>
                        <a:t>154 unit tests, 0 failing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Frontend ↔ backend wiring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Calibri"/>
                        </a:rPr>
                        <a:t>29 / 29 integration checks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Defect naming + classification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absent / rotated / offset + measurement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Audit trail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append-only records, CSV export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Runs with no camera at all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demo mode + simulated bench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3" name="Rounded Rectangle 17412"/>
          <p:cNvSpPr/>
          <p:nvPr/>
        </p:nvSpPr>
        <p:spPr>
          <a:xfrm>
            <a:off x="6172200" y="1645920"/>
            <a:ext cx="5577840" cy="27432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INDICATIVE BILL OF MATERIALS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6172200" y="1993392"/>
          <a:ext cx="5577839" cy="13533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16044"/>
                <a:gridCol w="1561795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USB webcam, 1080p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₹1,200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LED ring light + diffuser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₹900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Fixed jig, mount, enclosure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₹1,600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Raspberry Pi (optional edge node)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₹4,800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Laptop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already owned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Calibri"/>
                        </a:rPr>
                        <a:t>&lt; ₹10,000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415" name="Rounded Rectangle 17414"/>
          <p:cNvSpPr/>
          <p:nvPr/>
        </p:nvSpPr>
        <p:spPr>
          <a:xfrm>
            <a:off x="384048" y="3529584"/>
            <a:ext cx="11420856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RISKS AND HOW EACH IS CONTAINED</a:t>
            </a:r>
          </a:p>
        </p:txBody>
      </p:sp>
      <p:graphicFrame>
        <p:nvGraphicFramePr>
          <p:cNvPr id="17416" name="Table 17415"/>
          <p:cNvGraphicFramePr>
            <a:graphicFrameLocks noGrp="1"/>
          </p:cNvGraphicFramePr>
          <p:nvPr/>
        </p:nvGraphicFramePr>
        <p:xfrm>
          <a:off x="384048" y="3877056"/>
          <a:ext cx="11420855" cy="18653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12588"/>
                <a:gridCol w="4111508"/>
                <a:gridCol w="4796759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54864" marR="54864" marT="18288" marB="18288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54864" marR="54864" marT="18288" marB="18288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Containment</a:t>
                      </a:r>
                    </a:p>
                  </a:txBody>
                  <a:tcPr marL="54864" marR="54864" marT="18288" marB="18288" anchor="ctr">
                    <a:solidFill>
                      <a:srgbClr val="C0000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Illumination instability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62626"/>
                          </a:solidFill>
                          <a:latin typeface="Calibri"/>
                        </a:rPr>
                        <a:t>Dominant term</a:t>
                      </a:r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 in the false-call rate — larger than any algorithm change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Stability gate refuses to trust thresholds above 2 grey levels; degraded state shown, not hidden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Camera refuses exposure lock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Breaks golden-board comparison between captures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Detected and reported; enclosure controls ambient light; reproduced in simulation for testing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No matched CAD ↔ board pair yet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Path B cannot be demonstrated on that board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Two-path design — Path A needs no design files at all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Hardware failure on demo day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Loses the live demonstration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Calibri"/>
                        </a:rPr>
                        <a:t>Demo mode is a complete working station with no camera attached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417" name="Rounded Rectangle 17416"/>
          <p:cNvSpPr/>
          <p:nvPr/>
        </p:nvSpPr>
        <p:spPr>
          <a:xfrm>
            <a:off x="384048" y="5705856"/>
            <a:ext cx="11420856" cy="548640"/>
          </a:xfrm>
          <a:prstGeom prst="roundRect">
            <a:avLst>
              <a:gd name="adj" fmla="val 6000"/>
            </a:avLst>
          </a:prstGeom>
          <a:solidFill>
            <a:srgbClr val="FFF6E0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6B4E00"/>
                </a:solidFill>
                <a:latin typeface="Calibri"/>
              </a:rPr>
              <a:t>Stated honestly:</a:t>
            </a:r>
            <a:r>
              <a:rPr sz="1050" b="0">
                <a:solidFill>
                  <a:srgbClr val="6B4E00"/>
                </a:solidFill>
                <a:latin typeface="Calibri"/>
              </a:rPr>
              <a:t> recall and false-call rate are </a:t>
            </a:r>
            <a:r>
              <a:rPr sz="1050" b="1">
                <a:solidFill>
                  <a:srgbClr val="6B4E00"/>
                </a:solidFill>
                <a:latin typeface="Calibri"/>
              </a:rPr>
              <a:t>not yet measured</a:t>
            </a:r>
            <a:r>
              <a:rPr sz="1050" b="0">
                <a:solidFill>
                  <a:srgbClr val="6B4E00"/>
                </a:solidFill>
                <a:latin typeface="Calibri"/>
              </a:rPr>
              <a:t> — that needs seeded defects on real boards. We offer falsifiability instead: hand us a board, pull a component, and we will re-run it in front of you.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84048" y="969264"/>
            <a:ext cx="11420856" cy="512064"/>
          </a:xfrm>
        </p:spPr>
        <p:txBody>
          <a:bodyPr wrap="square"/>
          <a:lstStyle/>
          <a:p>
            <a:pPr eaLnBrk="1" hangingPunct="1" algn="l"/>
            <a:r>
              <a:rPr sz="2500" b="1">
                <a:solidFill>
                  <a:srgbClr val="1F3864"/>
                </a:solidFill>
                <a:latin typeface="Times New Roman"/>
              </a:rPr>
              <a:t>REAL WORLD IMPACTS, BENEFITS &amp; RELEVANCE</a:t>
            </a:r>
          </a:p>
        </p:txBody>
      </p:sp>
      <p:pic>
        <p:nvPicPr>
          <p:cNvPr id="2" name="Picture 1" descr="A logo with a person in a blue yellow and red circle&#10;&#10;Description automatically generated">
            <a:extLst>
              <a:ext uri="{FF2B5EF4-FFF2-40B4-BE49-F238E27FC236}">
                <a16:creationId xmlns:a16="http://schemas.microsoft.com/office/drawing/2014/main" id="{E87A1332-F984-FE94-C653-14B8C3AB7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0451" y="191545"/>
            <a:ext cx="1391552" cy="74061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07F48F0-EC57-48BB-A916-064508682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651" y="171182"/>
            <a:ext cx="1391552" cy="7675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2CD695-5E6A-2CDC-FEA6-1BD219A74E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0443" y="205614"/>
            <a:ext cx="1476130" cy="7416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D03E15-2AA0-F111-AA50-1B96453F48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48" y="205614"/>
            <a:ext cx="1903303" cy="72959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D279345-B127-20A0-F960-6BFA951A7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92874"/>
            <a:ext cx="12191999" cy="365126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FAB6CE9-9EAF-37AD-9295-3624C0DB0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1426" y="6488777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5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7410" name="Rectangle 17409"/>
          <p:cNvSpPr/>
          <p:nvPr/>
        </p:nvSpPr>
        <p:spPr>
          <a:xfrm>
            <a:off x="384048" y="1517904"/>
            <a:ext cx="11420856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384048" y="1645920"/>
            <a:ext cx="11420856" cy="27432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WHAT CHANGES ON THE SHOP FLOOR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384048" y="1993392"/>
          <a:ext cx="11420855" cy="16276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1545"/>
                <a:gridCol w="4111508"/>
                <a:gridCol w="5367802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With GerberEye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Eye + magnifier + printed assembly drawing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Camera + the shop's own design files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Time per board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2–5 minutes of concentrated attention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Seconds, unattended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What the operator is told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"Something looks wrong here"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"U1 rotated 90°. C2 missing. R5 off its pads by 1.6 mm"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Record of inspection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A signature on a sheet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Machine-generated record, exportable as CSV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Cost to automate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₹15–50 lakh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Under ₹10,000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3" name="Rounded Rectangle 17412"/>
          <p:cNvSpPr/>
          <p:nvPr/>
        </p:nvSpPr>
        <p:spPr>
          <a:xfrm>
            <a:off x="384048" y="3749039"/>
            <a:ext cx="3666744" cy="27432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ECONOMIC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84048" y="4096512"/>
            <a:ext cx="3666744" cy="17373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0">
                <a:solidFill>
                  <a:srgbClr val="262626"/>
                </a:solidFill>
                <a:latin typeface="Calibri"/>
              </a:rPr>
              <a:t>Defects caught </a:t>
            </a:r>
            <a:r>
              <a:rPr sz="1050" b="1">
                <a:solidFill>
                  <a:srgbClr val="262626"/>
                </a:solidFill>
                <a:latin typeface="Calibri"/>
              </a:rPr>
              <a:t>in-house</a:t>
            </a:r>
            <a:r>
              <a:rPr sz="1050" b="0">
                <a:solidFill>
                  <a:srgbClr val="262626"/>
                </a:solidFill>
                <a:latin typeface="Calibri"/>
              </a:rPr>
              <a:t>, not at the customer's incoming inspection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0">
                <a:solidFill>
                  <a:srgbClr val="262626"/>
                </a:solidFill>
                <a:latin typeface="Calibri"/>
              </a:rPr>
              <a:t>An inspection trail lets an MSME </a:t>
            </a:r>
            <a:r>
              <a:rPr sz="1050" b="1">
                <a:solidFill>
                  <a:srgbClr val="262626"/>
                </a:solidFill>
                <a:latin typeface="Calibri"/>
              </a:rPr>
              <a:t>bid for contracts</a:t>
            </a:r>
            <a:r>
              <a:rPr sz="1050" b="0">
                <a:solidFill>
                  <a:srgbClr val="262626"/>
                </a:solidFill>
                <a:latin typeface="Calibri"/>
              </a:rPr>
              <a:t> that require one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0">
                <a:solidFill>
                  <a:srgbClr val="262626"/>
                </a:solidFill>
                <a:latin typeface="Calibri"/>
              </a:rPr>
              <a:t>Recurring-defect trends turn detection into </a:t>
            </a:r>
            <a:r>
              <a:rPr sz="1050" b="1">
                <a:solidFill>
                  <a:srgbClr val="262626"/>
                </a:solidFill>
                <a:latin typeface="Calibri"/>
              </a:rPr>
              <a:t>process improvement</a:t>
            </a:r>
            <a:r>
              <a:rPr sz="1050" b="0">
                <a:solidFill>
                  <a:srgbClr val="262626"/>
                </a:solidFill>
                <a:latin typeface="Calibri"/>
              </a:rPr>
              <a:t> — a feeder fault, not a rework job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61104" y="3749039"/>
            <a:ext cx="3666744" cy="27432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261104" y="4096512"/>
            <a:ext cx="3666744" cy="17373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1">
                <a:solidFill>
                  <a:srgbClr val="262626"/>
                </a:solidFill>
                <a:latin typeface="Calibri"/>
              </a:rPr>
              <a:t>The operator is always the authority</a:t>
            </a:r>
            <a:r>
              <a:rPr sz="1050" b="0">
                <a:solidFill>
                  <a:srgbClr val="262626"/>
                </a:solidFill>
                <a:latin typeface="Calibri"/>
              </a:rPr>
              <a:t> — one-click override, no form to fill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0">
                <a:solidFill>
                  <a:srgbClr val="262626"/>
                </a:solidFill>
                <a:latin typeface="Calibri"/>
              </a:rPr>
              <a:t>Augments the inspector rather than replacing them; </a:t>
            </a:r>
            <a:r>
              <a:rPr sz="1050" b="1">
                <a:solidFill>
                  <a:srgbClr val="262626"/>
                </a:solidFill>
                <a:latin typeface="Calibri"/>
              </a:rPr>
              <a:t>no de-skilling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0">
                <a:solidFill>
                  <a:srgbClr val="262626"/>
                </a:solidFill>
                <a:latin typeface="Calibri"/>
              </a:rPr>
              <a:t>Removes the fatigue-driven error that eye inspection makes inevitable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138160" y="3749039"/>
            <a:ext cx="3666744" cy="27432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STRATEGIC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138160" y="4096512"/>
            <a:ext cx="3666744" cy="17373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1">
                <a:solidFill>
                  <a:srgbClr val="262626"/>
                </a:solidFill>
                <a:latin typeface="Calibri"/>
              </a:rPr>
              <a:t>Frugal Industry 4.0</a:t>
            </a:r>
            <a:r>
              <a:rPr sz="1050" b="0">
                <a:solidFill>
                  <a:srgbClr val="262626"/>
                </a:solidFill>
                <a:latin typeface="Calibri"/>
              </a:rPr>
              <a:t> for MSMEs — aligned with SAMARTH Udyog Bharat 4.0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1">
                <a:solidFill>
                  <a:srgbClr val="262626"/>
                </a:solidFill>
                <a:latin typeface="Calibri"/>
              </a:rPr>
              <a:t>Zero network egress</a:t>
            </a:r>
            <a:r>
              <a:rPr sz="1050" b="0">
                <a:solidFill>
                  <a:srgbClr val="262626"/>
                </a:solidFill>
                <a:latin typeface="Calibri"/>
              </a:rPr>
              <a:t> — customer design IP never leaves the machine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0">
                <a:solidFill>
                  <a:srgbClr val="262626"/>
                </a:solidFill>
                <a:latin typeface="Calibri"/>
              </a:rPr>
              <a:t>Built to </a:t>
            </a:r>
            <a:r>
              <a:rPr sz="1050" b="1">
                <a:solidFill>
                  <a:srgbClr val="262626"/>
                </a:solidFill>
                <a:latin typeface="Calibri"/>
              </a:rPr>
              <a:t>IPC-A-610</a:t>
            </a:r>
            <a:r>
              <a:rPr sz="1050" b="0">
                <a:solidFill>
                  <a:srgbClr val="262626"/>
                </a:solidFill>
                <a:latin typeface="Calibri"/>
              </a:rPr>
              <a:t> defect taxonomy; </a:t>
            </a:r>
            <a:r>
              <a:rPr sz="1050" b="1">
                <a:solidFill>
                  <a:srgbClr val="262626"/>
                </a:solidFill>
                <a:latin typeface="Calibri"/>
              </a:rPr>
              <a:t>IPC-2591 (CFX)</a:t>
            </a:r>
            <a:r>
              <a:rPr sz="1050" b="0">
                <a:solidFill>
                  <a:srgbClr val="262626"/>
                </a:solidFill>
                <a:latin typeface="Calibri"/>
              </a:rPr>
              <a:t> ready for MES integration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84048" y="5669280"/>
            <a:ext cx="11420856" cy="603504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</a:pPr>
            <a:r>
              <a:rPr sz="1150" b="1">
                <a:solidFill>
                  <a:srgbClr val="1F3864"/>
                </a:solidFill>
                <a:latin typeface="Calibri"/>
              </a:rPr>
              <a:t>CAD software checks whether the design is correct. GerberEye checks whether the board in your hand matches it.</a:t>
            </a:r>
            <a:r>
              <a:rPr sz="1150" b="0">
                <a:solidFill>
                  <a:srgbClr val="1F3864"/>
                </a:solidFill>
                <a:latin typeface="Calibri"/>
              </a:rPr>
              <a:t>   Design defects happen once; assembly defects happen on every unit, on every shift.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AFC37-8A86-D45F-BD8E-E5F82FE6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3802B630-148B-DEB7-9E9F-671395E5F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048" y="969264"/>
            <a:ext cx="11420856" cy="512064"/>
          </a:xfrm>
        </p:spPr>
        <p:txBody>
          <a:bodyPr wrap="square"/>
          <a:lstStyle/>
          <a:p>
            <a:pPr eaLnBrk="1" hangingPunct="1" algn="l"/>
            <a:r>
              <a:rPr sz="2500" b="1">
                <a:solidFill>
                  <a:srgbClr val="1F3864"/>
                </a:solidFill>
                <a:latin typeface="Times New Roman"/>
              </a:rPr>
              <a:t>TEAM CAPABILITY</a:t>
            </a:r>
          </a:p>
        </p:txBody>
      </p:sp>
      <p:pic>
        <p:nvPicPr>
          <p:cNvPr id="2" name="Picture 1" descr="A logo with a person in a blue yellow and red circle&#10;&#10;Description automatically generated">
            <a:extLst>
              <a:ext uri="{FF2B5EF4-FFF2-40B4-BE49-F238E27FC236}">
                <a16:creationId xmlns:a16="http://schemas.microsoft.com/office/drawing/2014/main" id="{1FB34FF6-83BB-C775-F565-5CBCA3CD4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0451" y="191545"/>
            <a:ext cx="1391552" cy="74061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C0FE33-8D5D-9B10-0FB3-95A80EA8CB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651" y="171182"/>
            <a:ext cx="1391552" cy="7675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7B7946-FCBE-A7F3-E327-5216D916AE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0443" y="205614"/>
            <a:ext cx="1476130" cy="7416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6146F2-80E9-1DE1-D7F6-FF7DD9BDB9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48" y="205614"/>
            <a:ext cx="1903303" cy="72959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E1DECC4-CC72-DA18-EB14-894AF3241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92874"/>
            <a:ext cx="12191999" cy="365126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A7F0034-8858-A538-51CA-4ED3AA26F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1426" y="6488777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6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7410" name="Rectangle 17409"/>
          <p:cNvSpPr/>
          <p:nvPr/>
        </p:nvSpPr>
        <p:spPr>
          <a:xfrm>
            <a:off x="384048" y="1517904"/>
            <a:ext cx="11420856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384048" y="1645920"/>
            <a:ext cx="5577840" cy="27432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TEAM AND ROLES  —  5 CSE + 1 ECE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384048" y="1993392"/>
          <a:ext cx="5577839" cy="1545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54249"/>
                <a:gridCol w="3123590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Stream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Ownership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Capture &amp; golden reference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ECE — jig, lighting, camera settings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Differencing engine (Path A)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CSE — computer vision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CAD registration (Path 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CSE — Gerber / pick-and-place, homography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Backend &amp; data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CSE — FastAPI, SQLite, records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Operator 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CSE — React, overlay, override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Demo, risk &amp; pitch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Team lead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413" name="Rounded Rectangle 17412"/>
          <p:cNvSpPr/>
          <p:nvPr/>
        </p:nvSpPr>
        <p:spPr>
          <a:xfrm>
            <a:off x="6172200" y="1645920"/>
            <a:ext cx="5577840" cy="27432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PROOF OF WORK — this repository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6172200" y="1993392"/>
          <a:ext cx="5577839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19579"/>
                <a:gridCol w="3458260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Artefact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Scale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Requirements engineering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27 functional, 13 non-functional, 16 stakeholder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Architecture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6 ADRs, C4 model, ATAM-lite evaluation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Implementation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~7,800 lines; 154 tests; 29 integration checks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Traceability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Every requirement traced both directions, orphan-checked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Working prototype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Runs end to end today, with no hardware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5" name="Rounded Rectangle 17414"/>
          <p:cNvSpPr/>
          <p:nvPr/>
        </p:nvSpPr>
        <p:spPr>
          <a:xfrm>
            <a:off x="384048" y="3730752"/>
            <a:ext cx="11420856" cy="27432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WHY THIS DOMAIN — AND WHAT WE FOUND IN OUR OWN SYSTEM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84048" y="4078224"/>
            <a:ext cx="11420856" cy="10515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5000"/>
              </a:lnSpc>
            </a:pPr>
            <a:r>
              <a:rPr sz="1100" b="0">
                <a:solidFill>
                  <a:srgbClr val="1F3864"/>
                </a:solidFill>
                <a:latin typeface="Calibri"/>
              </a:rPr>
              <a:t>We benchmarked against a </a:t>
            </a:r>
            <a:r>
              <a:rPr sz="1100" b="1">
                <a:solidFill>
                  <a:srgbClr val="1F3864"/>
                </a:solidFill>
                <a:latin typeface="Calibri"/>
              </a:rPr>
              <a:t>221-component 0603 board</a:t>
            </a:r>
            <a:r>
              <a:rPr sz="1100" b="0">
                <a:solidFill>
                  <a:srgbClr val="1F3864"/>
                </a:solidFill>
                <a:latin typeface="Calibri"/>
              </a:rPr>
              <a:t> rather than our own demo board. </a:t>
            </a:r>
            <a:r>
              <a:rPr sz="1100" b="1">
                <a:solidFill>
                  <a:srgbClr val="1F3864"/>
                </a:solidFill>
                <a:latin typeface="Calibri"/>
              </a:rPr>
              <a:t>Two of five seeded defects were missed — both of them 'missing components'</a:t>
            </a:r>
            <a:r>
              <a:rPr sz="1100" b="0">
                <a:solidFill>
                  <a:srgbClr val="1F3864"/>
                </a:solidFill>
                <a:latin typeface="Calibri"/>
              </a:rPr>
              <a:t>, the class that should be easiest. A removed 0603 changes ~100 px² of contour area; the default noise floor was 120 px², so the region was discarded and </a:t>
            </a:r>
            <a:r>
              <a:rPr sz="1100" b="1">
                <a:solidFill>
                  <a:srgbClr val="1F3864"/>
                </a:solidFill>
                <a:latin typeface="Calibri"/>
              </a:rPr>
              <a:t>the board reported PASS</a:t>
            </a:r>
            <a:r>
              <a:rPr sz="1100" b="0">
                <a:solidFill>
                  <a:srgbClr val="1F3864"/>
                </a:solidFill>
                <a:latin typeface="Calibri"/>
              </a:rPr>
              <a:t>.
That is an escape, not a false call — the dangerous direction. The station now computes the smallest component's expected change from its footprint and </a:t>
            </a:r>
            <a:r>
              <a:rPr sz="1100" b="1">
                <a:solidFill>
                  <a:srgbClr val="1F3864"/>
                </a:solidFill>
                <a:latin typeface="Calibri"/>
              </a:rPr>
              <a:t>warns when the threshold would hide it</a:t>
            </a:r>
            <a:r>
              <a:rPr sz="1100" b="0">
                <a:solidFill>
                  <a:srgbClr val="1F3864"/>
                </a:solidFill>
                <a:latin typeface="Calibri"/>
              </a:rPr>
              <a:t>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84048" y="5285232"/>
            <a:ext cx="11420856" cy="603504"/>
          </a:xfrm>
          <a:prstGeom prst="roundRect">
            <a:avLst>
              <a:gd name="adj" fmla="val 6000"/>
            </a:avLst>
          </a:prstGeom>
          <a:solidFill>
            <a:srgbClr val="E6F2E7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</a:pPr>
            <a:r>
              <a:rPr sz="1150" b="1">
                <a:solidFill>
                  <a:srgbClr val="1B4D1E"/>
                </a:solidFill>
                <a:latin typeface="Calibri"/>
              </a:rPr>
              <a:t>Finding a silent recall failure in your own system, and building the guard that surfaces it, is the capability we would most like to be judged on.</a:t>
            </a:r>
          </a:p>
        </p:txBody>
      </p:sp>
    </p:spTree>
    <p:extLst>
      <p:ext uri="{BB962C8B-B14F-4D97-AF65-F5344CB8AC3E}">
        <p14:creationId xmlns:p14="http://schemas.microsoft.com/office/powerpoint/2010/main" val="1381103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84048" y="969264"/>
            <a:ext cx="11420856" cy="512064"/>
          </a:xfrm>
        </p:spPr>
        <p:txBody>
          <a:bodyPr wrap="square"/>
          <a:lstStyle/>
          <a:p>
            <a:pPr eaLnBrk="1" hangingPunct="1" algn="l"/>
            <a:r>
              <a:rPr sz="2500" b="1">
                <a:solidFill>
                  <a:srgbClr val="1F3864"/>
                </a:solidFill>
                <a:latin typeface="Times New Roman"/>
              </a:rPr>
              <a:t>RESEARCH AND REFERENCES</a:t>
            </a:r>
          </a:p>
        </p:txBody>
      </p:sp>
      <p:pic>
        <p:nvPicPr>
          <p:cNvPr id="2" name="Picture 1" descr="A logo with a person in a blue yellow and red circle&#10;&#10;Description automatically generated">
            <a:extLst>
              <a:ext uri="{FF2B5EF4-FFF2-40B4-BE49-F238E27FC236}">
                <a16:creationId xmlns:a16="http://schemas.microsoft.com/office/drawing/2014/main" id="{39602C8D-F678-8672-953A-88CE55D987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0451" y="191545"/>
            <a:ext cx="1391552" cy="74061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9E762C-AA9A-10A1-0D85-AC9D80A09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651" y="171182"/>
            <a:ext cx="1391552" cy="7675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926A876-B01B-AA7E-5BF2-DF647B1A3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0443" y="205614"/>
            <a:ext cx="1476130" cy="7416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D3AC524-74AE-3C50-DF1C-D3BEE327D1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48" y="205614"/>
            <a:ext cx="1903303" cy="72959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8860FBF-1FF5-C80B-31B5-555105DE59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92874"/>
            <a:ext cx="12191999" cy="365126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2120A20-A57F-4A0C-672E-DA7B58B6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1426" y="6488777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7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7410" name="Rectangle 17409"/>
          <p:cNvSpPr/>
          <p:nvPr/>
        </p:nvSpPr>
        <p:spPr>
          <a:xfrm>
            <a:off x="384048" y="1517904"/>
            <a:ext cx="11420856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384048" y="1645920"/>
            <a:ext cx="11420856" cy="27432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STANDARDS AND SPECIFICATIONS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384048" y="1993392"/>
          <a:ext cx="11420855" cy="15727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39925"/>
                <a:gridCol w="7080930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the project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Calibri"/>
                        </a:rPr>
                        <a:t>IPC-A-610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 — Acceptability of Electronic Assemblies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The defect taxonomy: absent, misaligned, rotated, polarity-reversed, tombstoned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Calibri"/>
                        </a:rPr>
                        <a:t>IPC-2591 (CFX)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 — Connected Factory Exchange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The MES integration path — how an inspection station reports to a factory line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Calibri"/>
                        </a:rPr>
                        <a:t>Gerber RS-274X / X2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 (Ucamco specification)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Board geometry; X2 attributes carry component and net metadata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Calibri"/>
                        </a:rPr>
                        <a:t>Pick-and-place / centroid file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 (CAD output)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Calibri"/>
                        </a:rPr>
                        <a:t>Reference designator, X, Y, rotation, side —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Calibri"/>
                        </a:rPr>
                        <a:t>the ground truth used as the label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413" name="Rounded Rectangle 17412"/>
          <p:cNvSpPr/>
          <p:nvPr/>
        </p:nvSpPr>
        <p:spPr>
          <a:xfrm>
            <a:off x="384048" y="3675887"/>
            <a:ext cx="5577840" cy="27432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LIBRARIES AND TECHNIQUES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84048" y="4023360"/>
            <a:ext cx="5577840" cy="1920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1">
                <a:solidFill>
                  <a:srgbClr val="262626"/>
                </a:solidFill>
                <a:latin typeface="Calibri"/>
              </a:rPr>
              <a:t>OpenCV</a:t>
            </a:r>
            <a:r>
              <a:rPr sz="1050" b="0">
                <a:solidFill>
                  <a:srgbClr val="262626"/>
                </a:solidFill>
                <a:latin typeface="Calibri"/>
              </a:rPr>
              <a:t> — ArUco marker detection, homography (RANSAC), ECC alignment, template matching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1">
                <a:solidFill>
                  <a:srgbClr val="262626"/>
                </a:solidFill>
                <a:latin typeface="Calibri"/>
              </a:rPr>
              <a:t>pygerber</a:t>
            </a:r>
            <a:r>
              <a:rPr sz="1050" b="0">
                <a:solidFill>
                  <a:srgbClr val="262626"/>
                </a:solidFill>
                <a:latin typeface="Calibri"/>
              </a:rPr>
              <a:t> — Gerber rendering to raster for CAD-to-camera reference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1">
                <a:solidFill>
                  <a:srgbClr val="262626"/>
                </a:solidFill>
                <a:latin typeface="Calibri"/>
              </a:rPr>
              <a:t>Golden-board differencing</a:t>
            </a:r>
            <a:r>
              <a:rPr sz="1050" b="0">
                <a:solidFill>
                  <a:srgbClr val="262626"/>
                </a:solidFill>
                <a:latin typeface="Calibri"/>
              </a:rPr>
              <a:t> — the classical AOI baseline, used as the no-design-files path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0">
                <a:solidFill>
                  <a:srgbClr val="262626"/>
                </a:solidFill>
                <a:latin typeface="Calibri"/>
              </a:rPr>
              <a:t>Surveyed </a:t>
            </a:r>
            <a:r>
              <a:rPr sz="1050" b="1">
                <a:solidFill>
                  <a:srgbClr val="262626"/>
                </a:solidFill>
                <a:latin typeface="Calibri"/>
              </a:rPr>
              <a:t>PatchCore / anomalib</a:t>
            </a:r>
            <a:r>
              <a:rPr sz="1050" b="0">
                <a:solidFill>
                  <a:srgbClr val="262626"/>
                </a:solidFill>
                <a:latin typeface="Calibri"/>
              </a:rPr>
              <a:t> few-shot anomaly detection — deferred: CPU latency budget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172200" y="3675887"/>
            <a:ext cx="5577840" cy="27432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4572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FINDINGS THAT SHAPED THE DESIGN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172200" y="4023360"/>
            <a:ext cx="5577840" cy="1920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0">
                <a:solidFill>
                  <a:srgbClr val="262626"/>
                </a:solidFill>
                <a:latin typeface="Calibri"/>
              </a:rPr>
              <a:t>Public PCB datasets (DeepPCB, HRIPCB) are </a:t>
            </a:r>
            <a:r>
              <a:rPr sz="1050" b="1">
                <a:solidFill>
                  <a:srgbClr val="262626"/>
                </a:solidFill>
                <a:latin typeface="Calibri"/>
              </a:rPr>
              <a:t>bare-board trace defects</a:t>
            </a:r>
            <a:r>
              <a:rPr sz="1050" b="0">
                <a:solidFill>
                  <a:srgbClr val="262626"/>
                </a:solidFill>
                <a:latin typeface="Calibri"/>
              </a:rPr>
              <a:t> — the wrong problem entirely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1">
                <a:solidFill>
                  <a:srgbClr val="262626"/>
                </a:solidFill>
                <a:latin typeface="Calibri"/>
              </a:rPr>
              <a:t>No usable public dataset of PCB assembly defects exists</a:t>
            </a:r>
            <a:r>
              <a:rPr sz="1050" b="0">
                <a:solidFill>
                  <a:srgbClr val="262626"/>
                </a:solidFill>
                <a:latin typeface="Calibri"/>
              </a:rPr>
              <a:t> → so the design file must be the label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0">
                <a:solidFill>
                  <a:srgbClr val="262626"/>
                </a:solidFill>
                <a:latin typeface="Calibri"/>
              </a:rPr>
              <a:t>GitHub survey: </a:t>
            </a:r>
            <a:r>
              <a:rPr sz="1050" b="1">
                <a:solidFill>
                  <a:srgbClr val="262626"/>
                </a:solidFill>
                <a:latin typeface="Calibri"/>
              </a:rPr>
              <a:t>no prior art</a:t>
            </a:r>
            <a:r>
              <a:rPr sz="1050" b="0">
                <a:solidFill>
                  <a:srgbClr val="262626"/>
                </a:solidFill>
                <a:latin typeface="Calibri"/>
              </a:rPr>
              <a:t> for projecting Gerber/pick-and-place onto a live camera frame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050">
                <a:solidFill>
                  <a:srgbClr val="262626"/>
                </a:solidFill>
                <a:latin typeface="Calibri"/>
              </a:rPr>
              <a:t>▸  </a:t>
            </a:r>
            <a:r>
              <a:rPr sz="1050" b="0">
                <a:solidFill>
                  <a:srgbClr val="262626"/>
                </a:solidFill>
                <a:latin typeface="Calibri"/>
              </a:rPr>
              <a:t>Commercial AOI is vendor-locked and cloud-tied — </a:t>
            </a:r>
            <a:r>
              <a:rPr sz="1050" b="1">
                <a:solidFill>
                  <a:srgbClr val="262626"/>
                </a:solidFill>
                <a:latin typeface="Calibri"/>
              </a:rPr>
              <a:t>offline operation is a requirement, not a feature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84048" y="5705856"/>
            <a:ext cx="11420856" cy="5486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</a:pPr>
            <a:r>
              <a:rPr sz="1150" b="1">
                <a:solidFill>
                  <a:srgbClr val="1F3864"/>
                </a:solidFill>
                <a:latin typeface="Calibri"/>
              </a:rPr>
              <a:t>Working prototype, requirements set and architecture decision records:</a:t>
            </a:r>
            <a:r>
              <a:rPr sz="1150" b="0">
                <a:solidFill>
                  <a:srgbClr val="1F3864"/>
                </a:solidFill>
                <a:latin typeface="Calibri"/>
              </a:rPr>
              <a:t>   github.com/Haise-727/pcb-catcher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7604</TotalTime>
  <Words>302</Words>
  <Application>Microsoft Office PowerPoint</Application>
  <PresentationFormat>Widescreen</PresentationFormat>
  <Paragraphs>58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VITISH 2026 (SIH Internal Hackathon)</vt:lpstr>
      <vt:lpstr> IDEA TITLE</vt:lpstr>
      <vt:lpstr>TECHNICAL APPROACH</vt:lpstr>
      <vt:lpstr>SOLUTION FEASIBILITY &amp; VIABILITY</vt:lpstr>
      <vt:lpstr>REAL WORLD IMPACTS, BENEFITS &amp; RELEVANCE</vt:lpstr>
      <vt:lpstr>TEAM CAPABILITY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Admin</cp:lastModifiedBy>
  <cp:revision>153</cp:revision>
  <dcterms:created xsi:type="dcterms:W3CDTF">2013-12-12T18:46:50Z</dcterms:created>
  <dcterms:modified xsi:type="dcterms:W3CDTF">2026-08-17T11:27:26Z</dcterms:modified>
  <cp:category/>
</cp:coreProperties>
</file>